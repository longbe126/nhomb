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Times New Roman Bold" charset="1" panose="02020803070505020304"/>
      <p:regular r:id="rId22"/>
    </p:embeddedFont>
    <p:embeddedFont>
      <p:font typeface="Times New Roman" charset="1" panose="02020603050405020304"/>
      <p:regular r:id="rId23"/>
    </p:embeddedFont>
    <p:embeddedFont>
      <p:font typeface="Asap Bold" charset="1" panose="020F0804030202060203"/>
      <p:regular r:id="rId24"/>
    </p:embeddedFont>
    <p:embeddedFont>
      <p:font typeface="Asap" charset="1" panose="020F0504030202060203"/>
      <p:regular r:id="rId25"/>
    </p:embeddedFont>
    <p:embeddedFont>
      <p:font typeface="Muli Ultra-Bold" charset="1" panose="00000900000000000000"/>
      <p:regular r:id="rId26"/>
    </p:embeddedFont>
    <p:embeddedFont>
      <p:font typeface="Muli Semi-Bold" charset="1" panose="00000700000000000000"/>
      <p:regular r:id="rId27"/>
    </p:embeddedFont>
    <p:embeddedFont>
      <p:font typeface="Muli Heavy" charset="1" panose="00000A00000000000000"/>
      <p:regular r:id="rId28"/>
    </p:embeddedFont>
    <p:embeddedFont>
      <p:font typeface="Muli" charset="1" panose="000005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1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1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png" Type="http://schemas.openxmlformats.org/officeDocument/2006/relationships/image"/><Relationship Id="rId12" Target="../media/image39.png" Type="http://schemas.openxmlformats.org/officeDocument/2006/relationships/image"/><Relationship Id="rId13" Target="../media/image40.png" Type="http://schemas.openxmlformats.org/officeDocument/2006/relationships/image"/><Relationship Id="rId14" Target="../media/image41.png" Type="http://schemas.openxmlformats.org/officeDocument/2006/relationships/image"/><Relationship Id="rId15" Target="../media/image42.png" Type="http://schemas.openxmlformats.org/officeDocument/2006/relationships/image"/><Relationship Id="rId16" Target="../media/image43.png" Type="http://schemas.openxmlformats.org/officeDocument/2006/relationships/image"/><Relationship Id="rId17" Target="../media/image44.png" Type="http://schemas.openxmlformats.org/officeDocument/2006/relationships/image"/><Relationship Id="rId18" Target="../media/image45.png" Type="http://schemas.openxmlformats.org/officeDocument/2006/relationships/image"/><Relationship Id="rId19" Target="../media/image46.png" Type="http://schemas.openxmlformats.org/officeDocument/2006/relationships/image"/><Relationship Id="rId2" Target="../media/image29.png" Type="http://schemas.openxmlformats.org/officeDocument/2006/relationships/image"/><Relationship Id="rId20" Target="../media/image47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Relationship Id="rId7" Target="../media/image34.png" Type="http://schemas.openxmlformats.org/officeDocument/2006/relationships/image"/><Relationship Id="rId8" Target="../media/image35.pn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png" Type="http://schemas.openxmlformats.org/officeDocument/2006/relationships/image"/><Relationship Id="rId11" Target="../media/image57.png" Type="http://schemas.openxmlformats.org/officeDocument/2006/relationships/image"/><Relationship Id="rId12" Target="../media/image58.png" Type="http://schemas.openxmlformats.org/officeDocument/2006/relationships/image"/><Relationship Id="rId13" Target="../media/image59.png" Type="http://schemas.openxmlformats.org/officeDocument/2006/relationships/image"/><Relationship Id="rId2" Target="../media/image48.png" Type="http://schemas.openxmlformats.org/officeDocument/2006/relationships/image"/><Relationship Id="rId3" Target="../media/image49.png" Type="http://schemas.openxmlformats.org/officeDocument/2006/relationships/image"/><Relationship Id="rId4" Target="../media/image50.png" Type="http://schemas.openxmlformats.org/officeDocument/2006/relationships/image"/><Relationship Id="rId5" Target="../media/image51.png" Type="http://schemas.openxmlformats.org/officeDocument/2006/relationships/image"/><Relationship Id="rId6" Target="../media/image52.png" Type="http://schemas.openxmlformats.org/officeDocument/2006/relationships/image"/><Relationship Id="rId7" Target="../media/image53.png" Type="http://schemas.openxmlformats.org/officeDocument/2006/relationships/image"/><Relationship Id="rId8" Target="../media/image54.pn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62.png" Type="http://schemas.openxmlformats.org/officeDocument/2006/relationships/image"/><Relationship Id="rId5" Target="../media/image6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png" Type="http://schemas.openxmlformats.org/officeDocument/2006/relationships/image"/><Relationship Id="rId3" Target="../media/image65.png" Type="http://schemas.openxmlformats.org/officeDocument/2006/relationships/image"/><Relationship Id="rId4" Target="../media/image66.png" Type="http://schemas.openxmlformats.org/officeDocument/2006/relationships/image"/><Relationship Id="rId5" Target="../media/image67.png" Type="http://schemas.openxmlformats.org/officeDocument/2006/relationships/image"/><Relationship Id="rId6" Target="../media/image6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7.png" Type="http://schemas.openxmlformats.org/officeDocument/2006/relationships/image"/><Relationship Id="rId2" Target="../media/image69.png" Type="http://schemas.openxmlformats.org/officeDocument/2006/relationships/image"/><Relationship Id="rId3" Target="../media/image70.png" Type="http://schemas.openxmlformats.org/officeDocument/2006/relationships/image"/><Relationship Id="rId4" Target="../media/image71.png" Type="http://schemas.openxmlformats.org/officeDocument/2006/relationships/image"/><Relationship Id="rId5" Target="../media/image72.png" Type="http://schemas.openxmlformats.org/officeDocument/2006/relationships/image"/><Relationship Id="rId6" Target="../media/image73.png" Type="http://schemas.openxmlformats.org/officeDocument/2006/relationships/image"/><Relationship Id="rId7" Target="../media/image74.png" Type="http://schemas.openxmlformats.org/officeDocument/2006/relationships/image"/><Relationship Id="rId8" Target="../media/image75.png" Type="http://schemas.openxmlformats.org/officeDocument/2006/relationships/image"/><Relationship Id="rId9" Target="../media/image7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6.png" Type="http://schemas.openxmlformats.org/officeDocument/2006/relationships/image"/><Relationship Id="rId11" Target="../media/image87.png" Type="http://schemas.openxmlformats.org/officeDocument/2006/relationships/image"/><Relationship Id="rId2" Target="../media/image78.png" Type="http://schemas.openxmlformats.org/officeDocument/2006/relationships/image"/><Relationship Id="rId3" Target="../media/image79.png" Type="http://schemas.openxmlformats.org/officeDocument/2006/relationships/image"/><Relationship Id="rId4" Target="../media/image80.png" Type="http://schemas.openxmlformats.org/officeDocument/2006/relationships/image"/><Relationship Id="rId5" Target="../media/image81.png" Type="http://schemas.openxmlformats.org/officeDocument/2006/relationships/image"/><Relationship Id="rId6" Target="../media/image82.png" Type="http://schemas.openxmlformats.org/officeDocument/2006/relationships/image"/><Relationship Id="rId7" Target="../media/image83.png" Type="http://schemas.openxmlformats.org/officeDocument/2006/relationships/image"/><Relationship Id="rId8" Target="../media/image84.png" Type="http://schemas.openxmlformats.org/officeDocument/2006/relationships/image"/><Relationship Id="rId9" Target="../media/image8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8.png" Type="http://schemas.openxmlformats.org/officeDocument/2006/relationships/image"/><Relationship Id="rId3" Target="../media/image8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3653" y="0"/>
            <a:ext cx="18461653" cy="10384680"/>
          </a:xfrm>
          <a:custGeom>
            <a:avLst/>
            <a:gdLst/>
            <a:ahLst/>
            <a:cxnLst/>
            <a:rect r="r" b="b" t="t" l="l"/>
            <a:pathLst>
              <a:path h="10384680" w="18461653">
                <a:moveTo>
                  <a:pt x="0" y="0"/>
                </a:moveTo>
                <a:lnTo>
                  <a:pt x="18461653" y="0"/>
                </a:lnTo>
                <a:lnTo>
                  <a:pt x="18461653" y="10384680"/>
                </a:lnTo>
                <a:lnTo>
                  <a:pt x="0" y="103846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0140696" cy="10287000"/>
          </a:xfrm>
          <a:custGeom>
            <a:avLst/>
            <a:gdLst/>
            <a:ahLst/>
            <a:cxnLst/>
            <a:rect r="r" b="b" t="t" l="l"/>
            <a:pathLst>
              <a:path h="10287000" w="10140696">
                <a:moveTo>
                  <a:pt x="0" y="0"/>
                </a:moveTo>
                <a:lnTo>
                  <a:pt x="10140696" y="0"/>
                </a:lnTo>
                <a:lnTo>
                  <a:pt x="101406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1240119"/>
            <a:ext cx="10140696" cy="2309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96"/>
              </a:lnSpc>
              <a:spcBef>
                <a:spcPct val="0"/>
              </a:spcBef>
            </a:pPr>
            <a:r>
              <a:rPr lang="en-US" b="true" sz="656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HỆ THỐNG QUẢN LÝ</a:t>
            </a:r>
          </a:p>
          <a:p>
            <a:pPr algn="ctr">
              <a:lnSpc>
                <a:spcPts val="9196"/>
              </a:lnSpc>
              <a:spcBef>
                <a:spcPct val="0"/>
              </a:spcBef>
            </a:pPr>
            <a:r>
              <a:rPr lang="en-US" b="true" sz="656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SINH VIÊN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4642674"/>
            <a:ext cx="10140696" cy="93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76"/>
              </a:lnSpc>
              <a:spcBef>
                <a:spcPct val="0"/>
              </a:spcBef>
            </a:pPr>
            <a:r>
              <a:rPr lang="en-US" sz="526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Blockchain nâng cao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4711" y="7224751"/>
            <a:ext cx="9471273" cy="541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7"/>
              </a:lnSpc>
              <a:spcBef>
                <a:spcPct val="0"/>
              </a:spcBef>
            </a:pPr>
            <a:r>
              <a:rPr lang="en-US" sz="306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Quản lý hồ sơ, điểm số, GPA và trạng thái học tập trên chuỗi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7D7B7C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763400"/>
            <a:ext cx="2666026" cy="210476"/>
          </a:xfrm>
          <a:custGeom>
            <a:avLst/>
            <a:gdLst/>
            <a:ahLst/>
            <a:cxnLst/>
            <a:rect r="r" b="b" t="t" l="l"/>
            <a:pathLst>
              <a:path h="210476" w="2666026">
                <a:moveTo>
                  <a:pt x="0" y="0"/>
                </a:moveTo>
                <a:lnTo>
                  <a:pt x="2666026" y="0"/>
                </a:lnTo>
                <a:lnTo>
                  <a:pt x="2666026" y="210476"/>
                </a:lnTo>
                <a:lnTo>
                  <a:pt x="0" y="210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123051"/>
            <a:ext cx="7414551" cy="6135249"/>
          </a:xfrm>
          <a:custGeom>
            <a:avLst/>
            <a:gdLst/>
            <a:ahLst/>
            <a:cxnLst/>
            <a:rect r="r" b="b" t="t" l="l"/>
            <a:pathLst>
              <a:path h="6135249" w="7414551">
                <a:moveTo>
                  <a:pt x="0" y="0"/>
                </a:moveTo>
                <a:lnTo>
                  <a:pt x="7414551" y="0"/>
                </a:lnTo>
                <a:lnTo>
                  <a:pt x="7414551" y="6135249"/>
                </a:lnTo>
                <a:lnTo>
                  <a:pt x="0" y="61352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44749" y="3123051"/>
            <a:ext cx="7414551" cy="6135249"/>
          </a:xfrm>
          <a:custGeom>
            <a:avLst/>
            <a:gdLst/>
            <a:ahLst/>
            <a:cxnLst/>
            <a:rect r="r" b="b" t="t" l="l"/>
            <a:pathLst>
              <a:path h="6135249" w="7414551">
                <a:moveTo>
                  <a:pt x="0" y="0"/>
                </a:moveTo>
                <a:lnTo>
                  <a:pt x="7414551" y="0"/>
                </a:lnTo>
                <a:lnTo>
                  <a:pt x="7414551" y="6135249"/>
                </a:lnTo>
                <a:lnTo>
                  <a:pt x="0" y="61352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3123051"/>
            <a:ext cx="109115" cy="6119507"/>
          </a:xfrm>
          <a:custGeom>
            <a:avLst/>
            <a:gdLst/>
            <a:ahLst/>
            <a:cxnLst/>
            <a:rect r="r" b="b" t="t" l="l"/>
            <a:pathLst>
              <a:path h="6119507" w="109115">
                <a:moveTo>
                  <a:pt x="0" y="0"/>
                </a:moveTo>
                <a:lnTo>
                  <a:pt x="109115" y="0"/>
                </a:lnTo>
                <a:lnTo>
                  <a:pt x="109115" y="6119507"/>
                </a:lnTo>
                <a:lnTo>
                  <a:pt x="0" y="61195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44749" y="3138793"/>
            <a:ext cx="109115" cy="6119507"/>
          </a:xfrm>
          <a:custGeom>
            <a:avLst/>
            <a:gdLst/>
            <a:ahLst/>
            <a:cxnLst/>
            <a:rect r="r" b="b" t="t" l="l"/>
            <a:pathLst>
              <a:path h="6119507" w="109115">
                <a:moveTo>
                  <a:pt x="0" y="0"/>
                </a:moveTo>
                <a:lnTo>
                  <a:pt x="109114" y="0"/>
                </a:lnTo>
                <a:lnTo>
                  <a:pt x="109114" y="6119507"/>
                </a:lnTo>
                <a:lnTo>
                  <a:pt x="0" y="61195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69179"/>
            <a:ext cx="8115300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Bài toán và mục tiêu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95484" y="1624163"/>
            <a:ext cx="7445127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Tự động hóa quy tắc học vụ bằng mã chạy trên blockchain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5774" y="3237235"/>
            <a:ext cx="730543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Bài toán quản lý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5774" y="4055422"/>
            <a:ext cx="7247477" cy="320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Hồ sơ sinh viên nằm ở nhiều nơi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Điểm và trạng thái cần kiểm tra nhất quán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Quy trình đánh giá dễ phụ thuộc thao tác thủ công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Khó chứng minh lịch sử dữ liệu đã thay đổi như thế nào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11013" y="3237235"/>
            <a:ext cx="374645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Mục tiêu của hợp đồng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11013" y="4055422"/>
            <a:ext cx="7248287" cy="267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Lưu hồ sơ và điểm theo học kỳ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Tính GPA theo trọng số tín chỉ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Tự động chuyển trạng thái học tập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Cho phép hợp đồng Khoa gửi điểm sang hệ thống sinh viên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7D7B7C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763400"/>
            <a:ext cx="2666026" cy="210476"/>
          </a:xfrm>
          <a:custGeom>
            <a:avLst/>
            <a:gdLst/>
            <a:ahLst/>
            <a:cxnLst/>
            <a:rect r="r" b="b" t="t" l="l"/>
            <a:pathLst>
              <a:path h="210476" w="2666026">
                <a:moveTo>
                  <a:pt x="0" y="0"/>
                </a:moveTo>
                <a:lnTo>
                  <a:pt x="2666026" y="0"/>
                </a:lnTo>
                <a:lnTo>
                  <a:pt x="2666026" y="210476"/>
                </a:lnTo>
                <a:lnTo>
                  <a:pt x="0" y="210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144369"/>
            <a:ext cx="985822" cy="985822"/>
          </a:xfrm>
          <a:custGeom>
            <a:avLst/>
            <a:gdLst/>
            <a:ahLst/>
            <a:cxnLst/>
            <a:rect r="r" b="b" t="t" l="l"/>
            <a:pathLst>
              <a:path h="985822" w="985822">
                <a:moveTo>
                  <a:pt x="0" y="0"/>
                </a:moveTo>
                <a:lnTo>
                  <a:pt x="985822" y="0"/>
                </a:lnTo>
                <a:lnTo>
                  <a:pt x="985822" y="985821"/>
                </a:lnTo>
                <a:lnTo>
                  <a:pt x="0" y="985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18095" y="3144369"/>
            <a:ext cx="999905" cy="985822"/>
          </a:xfrm>
          <a:custGeom>
            <a:avLst/>
            <a:gdLst/>
            <a:ahLst/>
            <a:cxnLst/>
            <a:rect r="r" b="b" t="t" l="l"/>
            <a:pathLst>
              <a:path h="985822" w="999905">
                <a:moveTo>
                  <a:pt x="0" y="0"/>
                </a:moveTo>
                <a:lnTo>
                  <a:pt x="999905" y="0"/>
                </a:lnTo>
                <a:lnTo>
                  <a:pt x="999905" y="985821"/>
                </a:lnTo>
                <a:lnTo>
                  <a:pt x="0" y="9858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15660" y="3144369"/>
            <a:ext cx="999905" cy="985822"/>
          </a:xfrm>
          <a:custGeom>
            <a:avLst/>
            <a:gdLst/>
            <a:ahLst/>
            <a:cxnLst/>
            <a:rect r="r" b="b" t="t" l="l"/>
            <a:pathLst>
              <a:path h="985822" w="999905">
                <a:moveTo>
                  <a:pt x="0" y="0"/>
                </a:moveTo>
                <a:lnTo>
                  <a:pt x="999904" y="0"/>
                </a:lnTo>
                <a:lnTo>
                  <a:pt x="999904" y="985821"/>
                </a:lnTo>
                <a:lnTo>
                  <a:pt x="0" y="9858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73063"/>
            <a:ext cx="8115300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Vai trò của blockchain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47065" y="1624163"/>
            <a:ext cx="714196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Giá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trị nằm ở tính kiểm chứng và thực thi quy tắc chung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282590"/>
            <a:ext cx="410899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Dữ liệu khó sửa âm thầm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18095" y="4282590"/>
            <a:ext cx="5024735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Một nguồn dữ liệu dùng chung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56382" y="4282590"/>
            <a:ext cx="310291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Quy tắc tự thực thi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346249"/>
            <a:ext cx="4108996" cy="267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Giao dịch ghi lại việc thêm hồ sơ, nhập điểm hoặc đánh giá. Mọi thay đổi đều đi qua hàm hợp đồng.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14310" y="5346249"/>
            <a:ext cx="5024735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 đơn vị có thể đọc cùng trạng thái hợp đồng thay vì đồng bộ nhiều bản ghi riêng.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115660" y="5346249"/>
            <a:ext cx="3143640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Điều kiện require và logic GPA quyết định thao tác hợp lệ hoặc bị từ chối.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7D7B7C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091" r="0" b="-3025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763400"/>
            <a:ext cx="2666026" cy="210476"/>
          </a:xfrm>
          <a:custGeom>
            <a:avLst/>
            <a:gdLst/>
            <a:ahLst/>
            <a:cxnLst/>
            <a:rect r="r" b="b" t="t" l="l"/>
            <a:pathLst>
              <a:path h="210476" w="2666026">
                <a:moveTo>
                  <a:pt x="0" y="0"/>
                </a:moveTo>
                <a:lnTo>
                  <a:pt x="2666026" y="0"/>
                </a:lnTo>
                <a:lnTo>
                  <a:pt x="2666026" y="210476"/>
                </a:lnTo>
                <a:lnTo>
                  <a:pt x="0" y="210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3459319"/>
            <a:ext cx="3400226" cy="2325694"/>
            <a:chOff x="0" y="0"/>
            <a:chExt cx="4533635" cy="31009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30349" cy="3100926"/>
            </a:xfrm>
            <a:custGeom>
              <a:avLst/>
              <a:gdLst/>
              <a:ahLst/>
              <a:cxnLst/>
              <a:rect r="r" b="b" t="t" l="l"/>
              <a:pathLst>
                <a:path h="3100926" w="4530349">
                  <a:moveTo>
                    <a:pt x="0" y="0"/>
                  </a:moveTo>
                  <a:lnTo>
                    <a:pt x="4530349" y="0"/>
                  </a:lnTo>
                  <a:lnTo>
                    <a:pt x="4530349" y="3100926"/>
                  </a:lnTo>
                  <a:lnTo>
                    <a:pt x="0" y="3100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3286" y="395883"/>
              <a:ext cx="4530349" cy="598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60"/>
                </a:lnSpc>
                <a:spcBef>
                  <a:spcPct val="0"/>
                </a:spcBef>
              </a:pPr>
              <a:r>
                <a:rPr lang="en-US" b="true" sz="2614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FacultyManagement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483788"/>
              <a:ext cx="4530349" cy="12178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60"/>
                </a:lnSpc>
                <a:spcBef>
                  <a:spcPct val="0"/>
                </a:spcBef>
              </a:pPr>
              <a:r>
                <a:rPr lang="en-US" sz="2614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Môn học • Học kỳ</a:t>
              </a:r>
            </a:p>
            <a:p>
              <a:pPr algn="ctr">
                <a:lnSpc>
                  <a:spcPts val="3660"/>
                </a:lnSpc>
                <a:spcBef>
                  <a:spcPct val="0"/>
                </a:spcBef>
              </a:pPr>
              <a:r>
                <a:rPr lang="en-US" sz="2614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Gửi điểm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530382" y="3875674"/>
            <a:ext cx="3468800" cy="1909339"/>
            <a:chOff x="0" y="0"/>
            <a:chExt cx="4625067" cy="25457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25067" cy="2545786"/>
            </a:xfrm>
            <a:custGeom>
              <a:avLst/>
              <a:gdLst/>
              <a:ahLst/>
              <a:cxnLst/>
              <a:rect r="r" b="b" t="t" l="l"/>
              <a:pathLst>
                <a:path h="2545786" w="4625067">
                  <a:moveTo>
                    <a:pt x="0" y="0"/>
                  </a:moveTo>
                  <a:lnTo>
                    <a:pt x="4625067" y="0"/>
                  </a:lnTo>
                  <a:lnTo>
                    <a:pt x="4625067" y="2545786"/>
                  </a:lnTo>
                  <a:lnTo>
                    <a:pt x="0" y="2545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438882"/>
              <a:ext cx="4625067" cy="58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56"/>
                </a:lnSpc>
                <a:spcBef>
                  <a:spcPct val="0"/>
                </a:spcBef>
              </a:pPr>
              <a:r>
                <a:rPr lang="en-US" b="true" sz="254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IStudentManagement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462406"/>
              <a:ext cx="4625067" cy="58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56"/>
                </a:lnSpc>
                <a:spcBef>
                  <a:spcPct val="0"/>
                </a:spcBef>
              </a:pPr>
              <a:r>
                <a:rPr lang="en-US" sz="254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Chuẩn gọi hàm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100637" y="3502978"/>
            <a:ext cx="3033521" cy="2282035"/>
            <a:chOff x="0" y="0"/>
            <a:chExt cx="4044695" cy="304271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44695" cy="3042714"/>
            </a:xfrm>
            <a:custGeom>
              <a:avLst/>
              <a:gdLst/>
              <a:ahLst/>
              <a:cxnLst/>
              <a:rect r="r" b="b" t="t" l="l"/>
              <a:pathLst>
                <a:path h="3042714" w="4044695">
                  <a:moveTo>
                    <a:pt x="0" y="0"/>
                  </a:moveTo>
                  <a:lnTo>
                    <a:pt x="4044695" y="0"/>
                  </a:lnTo>
                  <a:lnTo>
                    <a:pt x="4044695" y="3042714"/>
                  </a:lnTo>
                  <a:lnTo>
                    <a:pt x="0" y="3042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0" y="186616"/>
              <a:ext cx="4044695" cy="520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3"/>
                </a:lnSpc>
                <a:spcBef>
                  <a:spcPct val="0"/>
                </a:spcBef>
              </a:pPr>
              <a:r>
                <a:rPr lang="en-US" b="true" sz="223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StudentManagement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008931"/>
              <a:ext cx="4044695" cy="1577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3"/>
                </a:lnSpc>
                <a:spcBef>
                  <a:spcPct val="0"/>
                </a:spcBef>
              </a:pPr>
              <a:r>
                <a:rPr lang="en-US" sz="2231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Hồ sơ • Điểm • GPA</a:t>
              </a:r>
            </a:p>
            <a:p>
              <a:pPr algn="ctr">
                <a:lnSpc>
                  <a:spcPts val="3123"/>
                </a:lnSpc>
                <a:spcBef>
                  <a:spcPct val="0"/>
                </a:spcBef>
              </a:pPr>
              <a:r>
                <a:rPr lang="en-US" sz="2231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Đánh giá trạng thái</a:t>
              </a:r>
            </a:p>
            <a:p>
              <a:pPr algn="ctr">
                <a:lnSpc>
                  <a:spcPts val="3123"/>
                </a:lnSpc>
                <a:spcBef>
                  <a:spcPct val="0"/>
                </a:spcBef>
              </a:pPr>
              <a:r>
                <a:rPr lang="en-US" sz="2231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 cứu dữ liệu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39058" y="3847695"/>
            <a:ext cx="3111982" cy="1937318"/>
            <a:chOff x="0" y="0"/>
            <a:chExt cx="4149309" cy="25830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49309" cy="2583091"/>
            </a:xfrm>
            <a:custGeom>
              <a:avLst/>
              <a:gdLst/>
              <a:ahLst/>
              <a:cxnLst/>
              <a:rect r="r" b="b" t="t" l="l"/>
              <a:pathLst>
                <a:path h="2583091" w="4149309">
                  <a:moveTo>
                    <a:pt x="0" y="0"/>
                  </a:moveTo>
                  <a:lnTo>
                    <a:pt x="4149309" y="0"/>
                  </a:lnTo>
                  <a:lnTo>
                    <a:pt x="4149309" y="2583091"/>
                  </a:lnTo>
                  <a:lnTo>
                    <a:pt x="0" y="25830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0" y="208988"/>
              <a:ext cx="4149309" cy="5868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84"/>
                </a:lnSpc>
                <a:spcBef>
                  <a:spcPct val="0"/>
                </a:spcBef>
              </a:pPr>
              <a:r>
                <a:rPr lang="en-US" b="true" sz="256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StudentData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908798"/>
              <a:ext cx="4149309" cy="11937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84"/>
                </a:lnSpc>
                <a:spcBef>
                  <a:spcPct val="0"/>
                </a:spcBef>
              </a:pPr>
              <a:r>
                <a:rPr lang="en-US" sz="256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Struct • Enum</a:t>
              </a:r>
            </a:p>
            <a:p>
              <a:pPr algn="ctr">
                <a:lnSpc>
                  <a:spcPts val="3584"/>
                </a:lnSpc>
                <a:spcBef>
                  <a:spcPct val="0"/>
                </a:spcBef>
              </a:pPr>
              <a:r>
                <a:rPr lang="en-US" sz="256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Mapping • Modifier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586783" y="4643996"/>
            <a:ext cx="1101455" cy="467599"/>
          </a:xfrm>
          <a:custGeom>
            <a:avLst/>
            <a:gdLst/>
            <a:ahLst/>
            <a:cxnLst/>
            <a:rect r="r" b="b" t="t" l="l"/>
            <a:pathLst>
              <a:path h="467599" w="1101455">
                <a:moveTo>
                  <a:pt x="0" y="0"/>
                </a:moveTo>
                <a:lnTo>
                  <a:pt x="1101456" y="0"/>
                </a:lnTo>
                <a:lnTo>
                  <a:pt x="1101456" y="467599"/>
                </a:lnTo>
                <a:lnTo>
                  <a:pt x="0" y="46759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144000" y="4595249"/>
            <a:ext cx="1071134" cy="442211"/>
          </a:xfrm>
          <a:custGeom>
            <a:avLst/>
            <a:gdLst/>
            <a:ahLst/>
            <a:cxnLst/>
            <a:rect r="r" b="b" t="t" l="l"/>
            <a:pathLst>
              <a:path h="442211" w="1071134">
                <a:moveTo>
                  <a:pt x="0" y="0"/>
                </a:moveTo>
                <a:lnTo>
                  <a:pt x="1071134" y="0"/>
                </a:lnTo>
                <a:lnTo>
                  <a:pt x="1071134" y="442211"/>
                </a:lnTo>
                <a:lnTo>
                  <a:pt x="0" y="442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134158" y="4595249"/>
            <a:ext cx="962025" cy="397166"/>
          </a:xfrm>
          <a:custGeom>
            <a:avLst/>
            <a:gdLst/>
            <a:ahLst/>
            <a:cxnLst/>
            <a:rect r="r" b="b" t="t" l="l"/>
            <a:pathLst>
              <a:path h="397166" w="962025">
                <a:moveTo>
                  <a:pt x="0" y="0"/>
                </a:moveTo>
                <a:lnTo>
                  <a:pt x="962025" y="0"/>
                </a:lnTo>
                <a:lnTo>
                  <a:pt x="962025" y="397166"/>
                </a:lnTo>
                <a:lnTo>
                  <a:pt x="0" y="3971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042327" y="7795374"/>
            <a:ext cx="14203346" cy="1462926"/>
          </a:xfrm>
          <a:custGeom>
            <a:avLst/>
            <a:gdLst/>
            <a:ahLst/>
            <a:cxnLst/>
            <a:rect r="r" b="b" t="t" l="l"/>
            <a:pathLst>
              <a:path h="1462926" w="14203346">
                <a:moveTo>
                  <a:pt x="0" y="0"/>
                </a:moveTo>
                <a:lnTo>
                  <a:pt x="14203346" y="0"/>
                </a:lnTo>
                <a:lnTo>
                  <a:pt x="14203346" y="1462926"/>
                </a:lnTo>
                <a:lnTo>
                  <a:pt x="0" y="146292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28700" y="373063"/>
            <a:ext cx="11110345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Kiến trúc hệ thống 4 hợp đồng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952113" y="1624163"/>
            <a:ext cx="7331869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</a:t>
            </a: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hợp đồng nghiệp vụ, một lớp dữ liệu và một interface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313100" y="6093826"/>
            <a:ext cx="1903363" cy="40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3"/>
              </a:lnSpc>
              <a:spcBef>
                <a:spcPct val="0"/>
              </a:spcBef>
            </a:pPr>
            <a:r>
              <a:rPr lang="en-US" sz="22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gọi qua interface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945315" y="6093826"/>
            <a:ext cx="1699468" cy="40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3"/>
              </a:lnSpc>
              <a:spcBef>
                <a:spcPct val="0"/>
              </a:spcBef>
            </a:pPr>
            <a:r>
              <a:rPr lang="en-US" sz="22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 thừa dữ liệu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681039" y="8293234"/>
            <a:ext cx="1535311" cy="40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3"/>
              </a:lnSpc>
              <a:spcBef>
                <a:spcPct val="0"/>
              </a:spcBef>
            </a:pPr>
            <a:r>
              <a:rPr lang="en-US" b="true" sz="223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Luồng chính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586783" y="8097972"/>
            <a:ext cx="11658890" cy="79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3"/>
              </a:lnSpc>
              <a:spcBef>
                <a:spcPct val="0"/>
              </a:spcBef>
            </a:pPr>
            <a:r>
              <a:rPr lang="en-US" sz="223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Khoa tạo dữ liệu môn học và gửi điểm. StudentManagement kiểm tra, lưu dữ liệu, tính GPA và cập nhật trạng thái.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7D7B7C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868638"/>
            <a:ext cx="2666026" cy="105238"/>
          </a:xfrm>
          <a:custGeom>
            <a:avLst/>
            <a:gdLst/>
            <a:ahLst/>
            <a:cxnLst/>
            <a:rect r="r" b="b" t="t" l="l"/>
            <a:pathLst>
              <a:path h="105238" w="2666026">
                <a:moveTo>
                  <a:pt x="0" y="0"/>
                </a:moveTo>
                <a:lnTo>
                  <a:pt x="2666026" y="0"/>
                </a:lnTo>
                <a:lnTo>
                  <a:pt x="2666026" y="105238"/>
                </a:lnTo>
                <a:lnTo>
                  <a:pt x="0" y="105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0000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489525"/>
            <a:ext cx="5805512" cy="3167606"/>
          </a:xfrm>
          <a:custGeom>
            <a:avLst/>
            <a:gdLst/>
            <a:ahLst/>
            <a:cxnLst/>
            <a:rect r="r" b="b" t="t" l="l"/>
            <a:pathLst>
              <a:path h="3167606" w="5805512">
                <a:moveTo>
                  <a:pt x="0" y="0"/>
                </a:moveTo>
                <a:lnTo>
                  <a:pt x="5805512" y="0"/>
                </a:lnTo>
                <a:lnTo>
                  <a:pt x="5805512" y="3167607"/>
                </a:lnTo>
                <a:lnTo>
                  <a:pt x="0" y="31676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6090694"/>
            <a:ext cx="5805512" cy="3167606"/>
          </a:xfrm>
          <a:custGeom>
            <a:avLst/>
            <a:gdLst/>
            <a:ahLst/>
            <a:cxnLst/>
            <a:rect r="r" b="b" t="t" l="l"/>
            <a:pathLst>
              <a:path h="3167606" w="5805512">
                <a:moveTo>
                  <a:pt x="0" y="0"/>
                </a:moveTo>
                <a:lnTo>
                  <a:pt x="5805512" y="0"/>
                </a:lnTo>
                <a:lnTo>
                  <a:pt x="5805512" y="3167606"/>
                </a:lnTo>
                <a:lnTo>
                  <a:pt x="0" y="31676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489525"/>
            <a:ext cx="141504" cy="3167606"/>
          </a:xfrm>
          <a:custGeom>
            <a:avLst/>
            <a:gdLst/>
            <a:ahLst/>
            <a:cxnLst/>
            <a:rect r="r" b="b" t="t" l="l"/>
            <a:pathLst>
              <a:path h="3167606" w="141504">
                <a:moveTo>
                  <a:pt x="0" y="0"/>
                </a:moveTo>
                <a:lnTo>
                  <a:pt x="141504" y="0"/>
                </a:lnTo>
                <a:lnTo>
                  <a:pt x="141504" y="3167607"/>
                </a:lnTo>
                <a:lnTo>
                  <a:pt x="0" y="3167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385374" r="-5300832" b="-305078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6090694"/>
            <a:ext cx="141504" cy="3157892"/>
          </a:xfrm>
          <a:custGeom>
            <a:avLst/>
            <a:gdLst/>
            <a:ahLst/>
            <a:cxnLst/>
            <a:rect r="r" b="b" t="t" l="l"/>
            <a:pathLst>
              <a:path h="3157892" w="141504">
                <a:moveTo>
                  <a:pt x="0" y="0"/>
                </a:moveTo>
                <a:lnTo>
                  <a:pt x="141504" y="0"/>
                </a:lnTo>
                <a:lnTo>
                  <a:pt x="141504" y="3157892"/>
                </a:lnTo>
                <a:lnTo>
                  <a:pt x="0" y="31578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45131" r="-990944" b="-57920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406676" y="2675438"/>
            <a:ext cx="10440684" cy="6364656"/>
          </a:xfrm>
          <a:custGeom>
            <a:avLst/>
            <a:gdLst/>
            <a:ahLst/>
            <a:cxnLst/>
            <a:rect r="r" b="b" t="t" l="l"/>
            <a:pathLst>
              <a:path h="6364656" w="10440684">
                <a:moveTo>
                  <a:pt x="0" y="0"/>
                </a:moveTo>
                <a:lnTo>
                  <a:pt x="10440684" y="0"/>
                </a:lnTo>
                <a:lnTo>
                  <a:pt x="10440684" y="6364656"/>
                </a:lnTo>
                <a:lnTo>
                  <a:pt x="0" y="63646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618047" y="4235606"/>
            <a:ext cx="10043400" cy="1118104"/>
          </a:xfrm>
          <a:custGeom>
            <a:avLst/>
            <a:gdLst/>
            <a:ahLst/>
            <a:cxnLst/>
            <a:rect r="r" b="b" t="t" l="l"/>
            <a:pathLst>
              <a:path h="1118104" w="10043400">
                <a:moveTo>
                  <a:pt x="0" y="0"/>
                </a:moveTo>
                <a:lnTo>
                  <a:pt x="10043400" y="0"/>
                </a:lnTo>
                <a:lnTo>
                  <a:pt x="10043400" y="1118104"/>
                </a:lnTo>
                <a:lnTo>
                  <a:pt x="0" y="11181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104" t="-1167" r="-18136" b="-1167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041129" y="5838995"/>
            <a:ext cx="9171779" cy="789686"/>
          </a:xfrm>
          <a:custGeom>
            <a:avLst/>
            <a:gdLst/>
            <a:ahLst/>
            <a:cxnLst/>
            <a:rect r="r" b="b" t="t" l="l"/>
            <a:pathLst>
              <a:path h="789686" w="9171779">
                <a:moveTo>
                  <a:pt x="0" y="0"/>
                </a:moveTo>
                <a:lnTo>
                  <a:pt x="9171778" y="0"/>
                </a:lnTo>
                <a:lnTo>
                  <a:pt x="9171778" y="789687"/>
                </a:lnTo>
                <a:lnTo>
                  <a:pt x="0" y="7896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186" r="0" b="-1186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373063"/>
            <a:ext cx="9562324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Mô</a:t>
            </a:r>
            <a:r>
              <a:rPr lang="en-US" b="true" sz="65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hình dữ liệu on-chain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53465" y="1624163"/>
            <a:ext cx="7129165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 liệu được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tổ chức theo sinh viên, học kỳ và môn học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40575" y="2918396"/>
            <a:ext cx="1270451" cy="542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Student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40575" y="3718441"/>
            <a:ext cx="5293638" cy="1076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studentId, fullName, major, age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status, consecutiveFails, exists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40575" y="6542957"/>
            <a:ext cx="940801" cy="542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Score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40575" y="7343002"/>
            <a:ext cx="5293638" cy="1076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course, semester, score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credits, exists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95399" y="3375541"/>
            <a:ext cx="8395646" cy="542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Cấu trúc mapping chính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41129" y="7093526"/>
            <a:ext cx="9263901" cy="1076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Khóa môn học chuyển từ chuỗi sang bytes32. Mỗi sinh viên chỉ có một bản ghi cho cùng môn trong cùng học kỳ.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7D7B7C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763400"/>
            <a:ext cx="2666026" cy="210476"/>
          </a:xfrm>
          <a:custGeom>
            <a:avLst/>
            <a:gdLst/>
            <a:ahLst/>
            <a:cxnLst/>
            <a:rect r="r" b="b" t="t" l="l"/>
            <a:pathLst>
              <a:path h="210476" w="2666026">
                <a:moveTo>
                  <a:pt x="0" y="0"/>
                </a:moveTo>
                <a:lnTo>
                  <a:pt x="2666026" y="0"/>
                </a:lnTo>
                <a:lnTo>
                  <a:pt x="2666026" y="210476"/>
                </a:lnTo>
                <a:lnTo>
                  <a:pt x="0" y="210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428165"/>
            <a:ext cx="16230600" cy="1359595"/>
          </a:xfrm>
          <a:custGeom>
            <a:avLst/>
            <a:gdLst/>
            <a:ahLst/>
            <a:cxnLst/>
            <a:rect r="r" b="b" t="t" l="l"/>
            <a:pathLst>
              <a:path h="1359595" w="16230600">
                <a:moveTo>
                  <a:pt x="0" y="0"/>
                </a:moveTo>
                <a:lnTo>
                  <a:pt x="16230600" y="0"/>
                </a:lnTo>
                <a:lnTo>
                  <a:pt x="16230600" y="1359595"/>
                </a:lnTo>
                <a:lnTo>
                  <a:pt x="0" y="13595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424" t="-10733" r="-13424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4244960"/>
            <a:ext cx="16230600" cy="1359595"/>
          </a:xfrm>
          <a:custGeom>
            <a:avLst/>
            <a:gdLst/>
            <a:ahLst/>
            <a:cxnLst/>
            <a:rect r="r" b="b" t="t" l="l"/>
            <a:pathLst>
              <a:path h="1359595" w="16230600">
                <a:moveTo>
                  <a:pt x="0" y="0"/>
                </a:moveTo>
                <a:lnTo>
                  <a:pt x="16230600" y="0"/>
                </a:lnTo>
                <a:lnTo>
                  <a:pt x="16230600" y="1359594"/>
                </a:lnTo>
                <a:lnTo>
                  <a:pt x="0" y="13595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424" t="-10733" r="-13424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6061754"/>
            <a:ext cx="16230600" cy="1359595"/>
          </a:xfrm>
          <a:custGeom>
            <a:avLst/>
            <a:gdLst/>
            <a:ahLst/>
            <a:cxnLst/>
            <a:rect r="r" b="b" t="t" l="l"/>
            <a:pathLst>
              <a:path h="1359595" w="16230600">
                <a:moveTo>
                  <a:pt x="0" y="0"/>
                </a:moveTo>
                <a:lnTo>
                  <a:pt x="16230600" y="0"/>
                </a:lnTo>
                <a:lnTo>
                  <a:pt x="16230600" y="1359595"/>
                </a:lnTo>
                <a:lnTo>
                  <a:pt x="0" y="13595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424" t="-10733" r="-13424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7878549"/>
            <a:ext cx="16230600" cy="1359595"/>
          </a:xfrm>
          <a:custGeom>
            <a:avLst/>
            <a:gdLst/>
            <a:ahLst/>
            <a:cxnLst/>
            <a:rect r="r" b="b" t="t" l="l"/>
            <a:pathLst>
              <a:path h="1359595" w="16230600">
                <a:moveTo>
                  <a:pt x="0" y="0"/>
                </a:moveTo>
                <a:lnTo>
                  <a:pt x="16230600" y="0"/>
                </a:lnTo>
                <a:lnTo>
                  <a:pt x="16230600" y="1359595"/>
                </a:lnTo>
                <a:lnTo>
                  <a:pt x="0" y="13595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424" t="-10733" r="-13424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2428165"/>
            <a:ext cx="247880" cy="1359595"/>
          </a:xfrm>
          <a:custGeom>
            <a:avLst/>
            <a:gdLst/>
            <a:ahLst/>
            <a:cxnLst/>
            <a:rect r="r" b="b" t="t" l="l"/>
            <a:pathLst>
              <a:path h="1359595" w="247880">
                <a:moveTo>
                  <a:pt x="0" y="0"/>
                </a:moveTo>
                <a:lnTo>
                  <a:pt x="247880" y="0"/>
                </a:lnTo>
                <a:lnTo>
                  <a:pt x="247880" y="1359595"/>
                </a:lnTo>
                <a:lnTo>
                  <a:pt x="0" y="13595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5005" t="-263166" r="0" b="-224818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4244960"/>
            <a:ext cx="247880" cy="1406706"/>
          </a:xfrm>
          <a:custGeom>
            <a:avLst/>
            <a:gdLst/>
            <a:ahLst/>
            <a:cxnLst/>
            <a:rect r="r" b="b" t="t" l="l"/>
            <a:pathLst>
              <a:path h="1406706" w="247880">
                <a:moveTo>
                  <a:pt x="0" y="0"/>
                </a:moveTo>
                <a:lnTo>
                  <a:pt x="247880" y="0"/>
                </a:lnTo>
                <a:lnTo>
                  <a:pt x="247880" y="1406706"/>
                </a:lnTo>
                <a:lnTo>
                  <a:pt x="0" y="14067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6144" t="-185670" r="0" b="-15043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6061754"/>
            <a:ext cx="247880" cy="1359595"/>
          </a:xfrm>
          <a:custGeom>
            <a:avLst/>
            <a:gdLst/>
            <a:ahLst/>
            <a:cxnLst/>
            <a:rect r="r" b="b" t="t" l="l"/>
            <a:pathLst>
              <a:path h="1359595" w="247880">
                <a:moveTo>
                  <a:pt x="0" y="0"/>
                </a:moveTo>
                <a:lnTo>
                  <a:pt x="247880" y="0"/>
                </a:lnTo>
                <a:lnTo>
                  <a:pt x="247880" y="1359595"/>
                </a:lnTo>
                <a:lnTo>
                  <a:pt x="0" y="13595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15000" t="-326208" r="0" b="-286282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7878549"/>
            <a:ext cx="247880" cy="1359595"/>
          </a:xfrm>
          <a:custGeom>
            <a:avLst/>
            <a:gdLst/>
            <a:ahLst/>
            <a:cxnLst/>
            <a:rect r="r" b="b" t="t" l="l"/>
            <a:pathLst>
              <a:path h="1359595" w="247880">
                <a:moveTo>
                  <a:pt x="0" y="0"/>
                </a:moveTo>
                <a:lnTo>
                  <a:pt x="247880" y="0"/>
                </a:lnTo>
                <a:lnTo>
                  <a:pt x="247880" y="1359595"/>
                </a:lnTo>
                <a:lnTo>
                  <a:pt x="0" y="13595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38644" t="-204216" r="0" b="-16429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373063"/>
            <a:ext cx="13586912" cy="1149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Chức</a:t>
            </a:r>
            <a:r>
              <a:rPr lang="en-US" b="true" sz="65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năng của StudentManagement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08101" y="1624163"/>
            <a:ext cx="7419894" cy="431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Hợp đồng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trung tâm xử lý hồ sơ, điểm và đánh giá học tập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3322" y="2793664"/>
            <a:ext cx="2487189" cy="542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Hồ sơ sinh viên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34846" y="4610459"/>
            <a:ext cx="2455664" cy="542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Điểm học phần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34846" y="6427254"/>
            <a:ext cx="2734784" cy="542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GPA và đánh giá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34846" y="8240499"/>
            <a:ext cx="2024874" cy="542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GPA cả năm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047902" y="2655297"/>
            <a:ext cx="3615133" cy="830974"/>
            <a:chOff x="0" y="0"/>
            <a:chExt cx="4820178" cy="1107966"/>
          </a:xfrm>
        </p:grpSpPr>
        <p:sp>
          <p:nvSpPr>
            <p:cNvPr name="AutoShape 18" id="18"/>
            <p:cNvSpPr/>
            <p:nvPr/>
          </p:nvSpPr>
          <p:spPr>
            <a:xfrm rot="0">
              <a:off x="0" y="0"/>
              <a:ext cx="4820178" cy="1107966"/>
            </a:xfrm>
            <a:prstGeom prst="rect">
              <a:avLst/>
            </a:prstGeom>
            <a:solidFill>
              <a:srgbClr val="BBE9F4"/>
            </a:solid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639692" y="144281"/>
              <a:ext cx="3540794" cy="781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50"/>
                </a:lnSpc>
              </a:pPr>
              <a:r>
                <a:rPr lang="en-US" sz="3699" spc="-25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addStudent()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091661" y="2697769"/>
            <a:ext cx="3615133" cy="830974"/>
            <a:chOff x="0" y="0"/>
            <a:chExt cx="4820178" cy="1107966"/>
          </a:xfrm>
        </p:grpSpPr>
        <p:sp>
          <p:nvSpPr>
            <p:cNvPr name="AutoShape 21" id="21"/>
            <p:cNvSpPr/>
            <p:nvPr/>
          </p:nvSpPr>
          <p:spPr>
            <a:xfrm rot="0">
              <a:off x="0" y="0"/>
              <a:ext cx="4820178" cy="1107966"/>
            </a:xfrm>
            <a:prstGeom prst="rect">
              <a:avLst/>
            </a:prstGeom>
            <a:solidFill>
              <a:srgbClr val="BBE9F4"/>
            </a:solid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639692" y="144281"/>
              <a:ext cx="3540794" cy="781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50"/>
                </a:lnSpc>
              </a:pPr>
              <a:r>
                <a:rPr lang="en-US" sz="3699" spc="-25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getStudent()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135419" y="2706863"/>
            <a:ext cx="3847440" cy="821880"/>
            <a:chOff x="0" y="0"/>
            <a:chExt cx="5129921" cy="1095840"/>
          </a:xfrm>
        </p:grpSpPr>
        <p:sp>
          <p:nvSpPr>
            <p:cNvPr name="AutoShape 24" id="24"/>
            <p:cNvSpPr/>
            <p:nvPr/>
          </p:nvSpPr>
          <p:spPr>
            <a:xfrm rot="0">
              <a:off x="0" y="0"/>
              <a:ext cx="5129921" cy="1095840"/>
            </a:xfrm>
            <a:prstGeom prst="rect">
              <a:avLst/>
            </a:prstGeom>
            <a:solidFill>
              <a:srgbClr val="BBE9F4"/>
            </a:solid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680798" y="138218"/>
              <a:ext cx="3768324" cy="781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50"/>
                </a:lnSpc>
              </a:pPr>
              <a:r>
                <a:rPr lang="en-US" sz="3699" spc="-25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getAllStudents()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047902" y="4387835"/>
            <a:ext cx="4965395" cy="1070572"/>
            <a:chOff x="0" y="0"/>
            <a:chExt cx="6620527" cy="1427429"/>
          </a:xfrm>
        </p:grpSpPr>
        <p:sp>
          <p:nvSpPr>
            <p:cNvPr name="AutoShape 27" id="27"/>
            <p:cNvSpPr/>
            <p:nvPr/>
          </p:nvSpPr>
          <p:spPr>
            <a:xfrm rot="0">
              <a:off x="0" y="0"/>
              <a:ext cx="6620527" cy="1427429"/>
            </a:xfrm>
            <a:prstGeom prst="rect">
              <a:avLst/>
            </a:prstGeom>
            <a:solidFill>
              <a:srgbClr val="F1D7FF"/>
            </a:solid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329177" y="577828"/>
              <a:ext cx="5962173" cy="849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779"/>
                </a:lnSpc>
              </a:pPr>
              <a:r>
                <a:rPr lang="en-US" sz="3559" spc="-242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addScoreWithCredits()</a:t>
              </a:r>
            </a:p>
            <a:p>
              <a:pPr algn="l" marL="0" indent="0" lvl="0">
                <a:lnSpc>
                  <a:spcPts val="3356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899227" y="4532826"/>
            <a:ext cx="3615133" cy="830974"/>
            <a:chOff x="0" y="0"/>
            <a:chExt cx="4820178" cy="1107966"/>
          </a:xfrm>
        </p:grpSpPr>
        <p:sp>
          <p:nvSpPr>
            <p:cNvPr name="AutoShape 30" id="30"/>
            <p:cNvSpPr/>
            <p:nvPr/>
          </p:nvSpPr>
          <p:spPr>
            <a:xfrm rot="0">
              <a:off x="0" y="0"/>
              <a:ext cx="4820178" cy="1107966"/>
            </a:xfrm>
            <a:prstGeom prst="rect">
              <a:avLst/>
            </a:prstGeom>
            <a:solidFill>
              <a:srgbClr val="F1D7FF"/>
            </a:solid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639692" y="144281"/>
              <a:ext cx="3540794" cy="781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50"/>
                </a:lnSpc>
              </a:pPr>
              <a:r>
                <a:rPr lang="en-US" sz="3699" spc="-25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getScore()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047902" y="6326065"/>
            <a:ext cx="3171636" cy="844024"/>
            <a:chOff x="0" y="0"/>
            <a:chExt cx="4228848" cy="1125366"/>
          </a:xfrm>
        </p:grpSpPr>
        <p:sp>
          <p:nvSpPr>
            <p:cNvPr name="AutoShape 33" id="33"/>
            <p:cNvSpPr/>
            <p:nvPr/>
          </p:nvSpPr>
          <p:spPr>
            <a:xfrm rot="0">
              <a:off x="0" y="0"/>
              <a:ext cx="4228848" cy="1125366"/>
            </a:xfrm>
            <a:prstGeom prst="rect">
              <a:avLst/>
            </a:prstGeom>
            <a:solidFill>
              <a:srgbClr val="B5FFB8"/>
            </a:solidFill>
          </p:spPr>
        </p:sp>
        <p:sp>
          <p:nvSpPr>
            <p:cNvPr name="TextBox 34" id="34"/>
            <p:cNvSpPr txBox="true"/>
            <p:nvPr/>
          </p:nvSpPr>
          <p:spPr>
            <a:xfrm rot="0">
              <a:off x="292344" y="152981"/>
              <a:ext cx="3671048" cy="781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50"/>
                </a:lnSpc>
              </a:pPr>
              <a:r>
                <a:rPr lang="en-US" sz="3699" spc="-25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calculateGPA()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663036" y="6319540"/>
            <a:ext cx="3874801" cy="844024"/>
            <a:chOff x="0" y="0"/>
            <a:chExt cx="5166402" cy="1125366"/>
          </a:xfrm>
        </p:grpSpPr>
        <p:sp>
          <p:nvSpPr>
            <p:cNvPr name="AutoShape 36" id="36"/>
            <p:cNvSpPr/>
            <p:nvPr/>
          </p:nvSpPr>
          <p:spPr>
            <a:xfrm rot="0">
              <a:off x="0" y="0"/>
              <a:ext cx="5166402" cy="1125366"/>
            </a:xfrm>
            <a:prstGeom prst="rect">
              <a:avLst/>
            </a:prstGeom>
            <a:solidFill>
              <a:srgbClr val="B5FFB8"/>
            </a:solid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357158" y="152981"/>
              <a:ext cx="4484935" cy="781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50"/>
                </a:lnSpc>
              </a:pPr>
              <a:r>
                <a:rPr lang="en-US" sz="3699" spc="-25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evaluateStudent()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985512" y="6347504"/>
            <a:ext cx="3874801" cy="844024"/>
            <a:chOff x="0" y="0"/>
            <a:chExt cx="5166402" cy="1125366"/>
          </a:xfrm>
        </p:grpSpPr>
        <p:sp>
          <p:nvSpPr>
            <p:cNvPr name="AutoShape 39" id="39"/>
            <p:cNvSpPr/>
            <p:nvPr/>
          </p:nvSpPr>
          <p:spPr>
            <a:xfrm rot="0">
              <a:off x="0" y="0"/>
              <a:ext cx="5166402" cy="1125366"/>
            </a:xfrm>
            <a:prstGeom prst="rect">
              <a:avLst/>
            </a:prstGeom>
            <a:solidFill>
              <a:srgbClr val="B5FFB8"/>
            </a:solidFill>
          </p:spPr>
        </p:sp>
        <p:sp>
          <p:nvSpPr>
            <p:cNvPr name="TextBox 40" id="40"/>
            <p:cNvSpPr txBox="true"/>
            <p:nvPr/>
          </p:nvSpPr>
          <p:spPr>
            <a:xfrm rot="0">
              <a:off x="357158" y="152981"/>
              <a:ext cx="4484935" cy="781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50"/>
                </a:lnSpc>
              </a:pPr>
              <a:r>
                <a:rPr lang="en-US" sz="3699" spc="-25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getSemesterGPA()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047902" y="8183349"/>
            <a:ext cx="4499837" cy="844024"/>
            <a:chOff x="0" y="0"/>
            <a:chExt cx="5999783" cy="1125366"/>
          </a:xfrm>
        </p:grpSpPr>
        <p:sp>
          <p:nvSpPr>
            <p:cNvPr name="AutoShape 42" id="42"/>
            <p:cNvSpPr/>
            <p:nvPr/>
          </p:nvSpPr>
          <p:spPr>
            <a:xfrm rot="0">
              <a:off x="0" y="0"/>
              <a:ext cx="5999783" cy="1125366"/>
            </a:xfrm>
            <a:prstGeom prst="rect">
              <a:avLst/>
            </a:prstGeom>
            <a:solidFill>
              <a:srgbClr val="FDFF9C"/>
            </a:solid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414770" y="152981"/>
              <a:ext cx="5208390" cy="781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550"/>
                </a:lnSpc>
              </a:pPr>
              <a:r>
                <a:rPr lang="en-US" sz="3699" spc="-25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calculateYearGPA()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7D7B7C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868638"/>
            <a:ext cx="2666026" cy="105238"/>
          </a:xfrm>
          <a:custGeom>
            <a:avLst/>
            <a:gdLst/>
            <a:ahLst/>
            <a:cxnLst/>
            <a:rect r="r" b="b" t="t" l="l"/>
            <a:pathLst>
              <a:path h="105238" w="2666026">
                <a:moveTo>
                  <a:pt x="0" y="0"/>
                </a:moveTo>
                <a:lnTo>
                  <a:pt x="2666026" y="0"/>
                </a:lnTo>
                <a:lnTo>
                  <a:pt x="2666026" y="105238"/>
                </a:lnTo>
                <a:lnTo>
                  <a:pt x="0" y="105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00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315008" y="2974426"/>
            <a:ext cx="4322192" cy="3086100"/>
            <a:chOff x="0" y="0"/>
            <a:chExt cx="1138355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38355" cy="812800"/>
            </a:xfrm>
            <a:custGeom>
              <a:avLst/>
              <a:gdLst/>
              <a:ahLst/>
              <a:cxnLst/>
              <a:rect r="r" b="b" t="t" l="l"/>
              <a:pathLst>
                <a:path h="812800" w="1138355">
                  <a:moveTo>
                    <a:pt x="91351" y="0"/>
                  </a:moveTo>
                  <a:lnTo>
                    <a:pt x="1047004" y="0"/>
                  </a:lnTo>
                  <a:cubicBezTo>
                    <a:pt x="1097456" y="0"/>
                    <a:pt x="1138355" y="40899"/>
                    <a:pt x="1138355" y="91351"/>
                  </a:cubicBezTo>
                  <a:lnTo>
                    <a:pt x="1138355" y="721449"/>
                  </a:lnTo>
                  <a:cubicBezTo>
                    <a:pt x="1138355" y="771901"/>
                    <a:pt x="1097456" y="812800"/>
                    <a:pt x="1047004" y="812800"/>
                  </a:cubicBezTo>
                  <a:lnTo>
                    <a:pt x="91351" y="812800"/>
                  </a:lnTo>
                  <a:cubicBezTo>
                    <a:pt x="40899" y="812800"/>
                    <a:pt x="0" y="771901"/>
                    <a:pt x="0" y="721449"/>
                  </a:cubicBezTo>
                  <a:lnTo>
                    <a:pt x="0" y="91351"/>
                  </a:lnTo>
                  <a:cubicBezTo>
                    <a:pt x="0" y="40899"/>
                    <a:pt x="40899" y="0"/>
                    <a:pt x="91351" y="0"/>
                  </a:cubicBezTo>
                  <a:close/>
                </a:path>
              </a:pathLst>
            </a:custGeom>
            <a:solidFill>
              <a:srgbClr val="08172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138355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315008" y="3304297"/>
            <a:ext cx="4322192" cy="2803202"/>
          </a:xfrm>
          <a:custGeom>
            <a:avLst/>
            <a:gdLst/>
            <a:ahLst/>
            <a:cxnLst/>
            <a:rect r="r" b="b" t="t" l="l"/>
            <a:pathLst>
              <a:path h="2803202" w="4322192">
                <a:moveTo>
                  <a:pt x="0" y="0"/>
                </a:moveTo>
                <a:lnTo>
                  <a:pt x="4322192" y="0"/>
                </a:lnTo>
                <a:lnTo>
                  <a:pt x="4322192" y="2803202"/>
                </a:lnTo>
                <a:lnTo>
                  <a:pt x="0" y="2803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39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08626" y="3004329"/>
            <a:ext cx="3663737" cy="3086100"/>
            <a:chOff x="0" y="0"/>
            <a:chExt cx="964935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64935" cy="812800"/>
            </a:xfrm>
            <a:custGeom>
              <a:avLst/>
              <a:gdLst/>
              <a:ahLst/>
              <a:cxnLst/>
              <a:rect r="r" b="b" t="t" l="l"/>
              <a:pathLst>
                <a:path h="812800" w="964935">
                  <a:moveTo>
                    <a:pt x="107769" y="0"/>
                  </a:moveTo>
                  <a:lnTo>
                    <a:pt x="857166" y="0"/>
                  </a:lnTo>
                  <a:cubicBezTo>
                    <a:pt x="885748" y="0"/>
                    <a:pt x="913159" y="11354"/>
                    <a:pt x="933370" y="31565"/>
                  </a:cubicBezTo>
                  <a:cubicBezTo>
                    <a:pt x="953581" y="51775"/>
                    <a:pt x="964935" y="79187"/>
                    <a:pt x="964935" y="107769"/>
                  </a:cubicBezTo>
                  <a:lnTo>
                    <a:pt x="964935" y="705031"/>
                  </a:lnTo>
                  <a:cubicBezTo>
                    <a:pt x="964935" y="764550"/>
                    <a:pt x="916685" y="812800"/>
                    <a:pt x="857166" y="812800"/>
                  </a:cubicBezTo>
                  <a:lnTo>
                    <a:pt x="107769" y="812800"/>
                  </a:lnTo>
                  <a:cubicBezTo>
                    <a:pt x="79187" y="812800"/>
                    <a:pt x="51775" y="801446"/>
                    <a:pt x="31565" y="781235"/>
                  </a:cubicBezTo>
                  <a:cubicBezTo>
                    <a:pt x="11354" y="761025"/>
                    <a:pt x="0" y="733613"/>
                    <a:pt x="0" y="705031"/>
                  </a:cubicBezTo>
                  <a:lnTo>
                    <a:pt x="0" y="107769"/>
                  </a:lnTo>
                  <a:cubicBezTo>
                    <a:pt x="0" y="79187"/>
                    <a:pt x="11354" y="51775"/>
                    <a:pt x="31565" y="31565"/>
                  </a:cubicBezTo>
                  <a:cubicBezTo>
                    <a:pt x="51775" y="11354"/>
                    <a:pt x="79187" y="0"/>
                    <a:pt x="107769" y="0"/>
                  </a:cubicBezTo>
                  <a:close/>
                </a:path>
              </a:pathLst>
            </a:custGeom>
            <a:solidFill>
              <a:srgbClr val="08172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964935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08626" y="3371628"/>
            <a:ext cx="3663737" cy="2668541"/>
            <a:chOff x="0" y="0"/>
            <a:chExt cx="4884983" cy="35580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81442" cy="3558055"/>
            </a:xfrm>
            <a:custGeom>
              <a:avLst/>
              <a:gdLst/>
              <a:ahLst/>
              <a:cxnLst/>
              <a:rect r="r" b="b" t="t" l="l"/>
              <a:pathLst>
                <a:path h="3558055" w="4881442">
                  <a:moveTo>
                    <a:pt x="0" y="0"/>
                  </a:moveTo>
                  <a:lnTo>
                    <a:pt x="4881442" y="0"/>
                  </a:lnTo>
                  <a:lnTo>
                    <a:pt x="4881442" y="3558055"/>
                  </a:lnTo>
                  <a:lnTo>
                    <a:pt x="0" y="3558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244" t="0" r="-324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190617"/>
              <a:ext cx="4881442" cy="6953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FacultyManagement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541" y="1457948"/>
              <a:ext cx="4881442" cy="16933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31"/>
                </a:lnSpc>
                <a:spcBef>
                  <a:spcPct val="0"/>
                </a:spcBef>
              </a:pPr>
              <a:r>
                <a:rPr lang="en-US" sz="24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offeri</a:t>
              </a:r>
              <a:r>
                <a:rPr lang="en-US" sz="24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ngId</a:t>
              </a:r>
            </a:p>
            <a:p>
              <a:pPr algn="ctr">
                <a:lnSpc>
                  <a:spcPts val="3431"/>
                </a:lnSpc>
                <a:spcBef>
                  <a:spcPct val="0"/>
                </a:spcBef>
              </a:pPr>
              <a:r>
                <a:rPr lang="en-US" sz="24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courseId + semesterId</a:t>
              </a:r>
            </a:p>
            <a:p>
              <a:pPr algn="ctr">
                <a:lnSpc>
                  <a:spcPts val="3431"/>
                </a:lnSpc>
                <a:spcBef>
                  <a:spcPct val="0"/>
                </a:spcBef>
              </a:pPr>
              <a:r>
                <a:rPr lang="en-US" sz="24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score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237505" y="4634562"/>
            <a:ext cx="4481389" cy="9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6"/>
              </a:lnSpc>
            </a:pPr>
            <a:r>
              <a:rPr lang="en-US" sz="267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studentExists()</a:t>
            </a:r>
          </a:p>
          <a:p>
            <a:pPr algn="ctr">
              <a:lnSpc>
                <a:spcPts val="3746"/>
              </a:lnSpc>
              <a:spcBef>
                <a:spcPct val="0"/>
              </a:spcBef>
            </a:pPr>
            <a:r>
              <a:rPr lang="en-US" sz="267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</a:t>
            </a:r>
            <a:r>
              <a:rPr lang="en-US" sz="267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dScoreWithCredits()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133166" y="3162848"/>
            <a:ext cx="3977362" cy="3086100"/>
            <a:chOff x="0" y="0"/>
            <a:chExt cx="1047536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7536" cy="812800"/>
            </a:xfrm>
            <a:custGeom>
              <a:avLst/>
              <a:gdLst/>
              <a:ahLst/>
              <a:cxnLst/>
              <a:rect r="r" b="b" t="t" l="l"/>
              <a:pathLst>
                <a:path h="812800" w="1047536">
                  <a:moveTo>
                    <a:pt x="99271" y="0"/>
                  </a:moveTo>
                  <a:lnTo>
                    <a:pt x="948264" y="0"/>
                  </a:lnTo>
                  <a:cubicBezTo>
                    <a:pt x="1003090" y="0"/>
                    <a:pt x="1047536" y="44445"/>
                    <a:pt x="1047536" y="99271"/>
                  </a:cubicBezTo>
                  <a:lnTo>
                    <a:pt x="1047536" y="713529"/>
                  </a:lnTo>
                  <a:cubicBezTo>
                    <a:pt x="1047536" y="768355"/>
                    <a:pt x="1003090" y="812800"/>
                    <a:pt x="948264" y="812800"/>
                  </a:cubicBezTo>
                  <a:lnTo>
                    <a:pt x="99271" y="812800"/>
                  </a:lnTo>
                  <a:cubicBezTo>
                    <a:pt x="44445" y="812800"/>
                    <a:pt x="0" y="768355"/>
                    <a:pt x="0" y="713529"/>
                  </a:cubicBezTo>
                  <a:lnTo>
                    <a:pt x="0" y="99271"/>
                  </a:lnTo>
                  <a:cubicBezTo>
                    <a:pt x="0" y="44445"/>
                    <a:pt x="44445" y="0"/>
                    <a:pt x="99271" y="0"/>
                  </a:cubicBezTo>
                  <a:close/>
                </a:path>
              </a:pathLst>
            </a:custGeom>
            <a:solidFill>
              <a:srgbClr val="08172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047536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1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003478" y="3371628"/>
            <a:ext cx="4107050" cy="2668541"/>
            <a:chOff x="0" y="0"/>
            <a:chExt cx="5476067" cy="355805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72098" cy="3558055"/>
            </a:xfrm>
            <a:custGeom>
              <a:avLst/>
              <a:gdLst/>
              <a:ahLst/>
              <a:cxnLst/>
              <a:rect r="r" b="b" t="t" l="l"/>
              <a:pathLst>
                <a:path h="3558055" w="5472098">
                  <a:moveTo>
                    <a:pt x="0" y="0"/>
                  </a:moveTo>
                  <a:lnTo>
                    <a:pt x="5472098" y="0"/>
                  </a:lnTo>
                  <a:lnTo>
                    <a:pt x="5472098" y="3558055"/>
                  </a:lnTo>
                  <a:lnTo>
                    <a:pt x="0" y="3558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634" r="0" b="-263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0" y="190617"/>
              <a:ext cx="5472098" cy="6953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St</a:t>
              </a:r>
              <a:r>
                <a:rPr lang="en-US" b="true" sz="30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udentManagement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3969" y="1457948"/>
              <a:ext cx="5472098" cy="16933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31"/>
                </a:lnSpc>
                <a:spcBef>
                  <a:spcPct val="0"/>
                </a:spcBef>
              </a:pPr>
              <a:r>
                <a:rPr lang="en-US" sz="24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kiểm tra si</a:t>
              </a:r>
              <a:r>
                <a:rPr lang="en-US" sz="24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nh viên</a:t>
              </a:r>
            </a:p>
            <a:p>
              <a:pPr algn="ctr">
                <a:lnSpc>
                  <a:spcPts val="3431"/>
                </a:lnSpc>
                <a:spcBef>
                  <a:spcPct val="0"/>
                </a:spcBef>
              </a:pPr>
              <a:r>
                <a:rPr lang="en-US" sz="24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lưu điểm + tín chỉ</a:t>
              </a:r>
            </a:p>
            <a:p>
              <a:pPr algn="ctr">
                <a:lnSpc>
                  <a:spcPts val="3431"/>
                </a:lnSpc>
                <a:spcBef>
                  <a:spcPct val="0"/>
                </a:spcBef>
              </a:pPr>
              <a:r>
                <a:rPr lang="en-US" sz="24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chặn dữ liệu trùng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4272363" y="4705898"/>
            <a:ext cx="3042645" cy="486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>
            <a:off x="11637200" y="4705898"/>
            <a:ext cx="2495966" cy="2391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4" id="24"/>
          <p:cNvGrpSpPr/>
          <p:nvPr/>
        </p:nvGrpSpPr>
        <p:grpSpPr>
          <a:xfrm rot="0">
            <a:off x="3694726" y="6849353"/>
            <a:ext cx="13392425" cy="2200632"/>
            <a:chOff x="0" y="0"/>
            <a:chExt cx="3527223" cy="5795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27223" cy="579590"/>
            </a:xfrm>
            <a:custGeom>
              <a:avLst/>
              <a:gdLst/>
              <a:ahLst/>
              <a:cxnLst/>
              <a:rect r="r" b="b" t="t" l="l"/>
              <a:pathLst>
                <a:path h="579590" w="3527223">
                  <a:moveTo>
                    <a:pt x="29482" y="0"/>
                  </a:moveTo>
                  <a:lnTo>
                    <a:pt x="3497741" y="0"/>
                  </a:lnTo>
                  <a:cubicBezTo>
                    <a:pt x="3514023" y="0"/>
                    <a:pt x="3527223" y="13200"/>
                    <a:pt x="3527223" y="29482"/>
                  </a:cubicBezTo>
                  <a:lnTo>
                    <a:pt x="3527223" y="550108"/>
                  </a:lnTo>
                  <a:cubicBezTo>
                    <a:pt x="3527223" y="566391"/>
                    <a:pt x="3514023" y="579590"/>
                    <a:pt x="3497741" y="579590"/>
                  </a:cubicBezTo>
                  <a:lnTo>
                    <a:pt x="29482" y="579590"/>
                  </a:lnTo>
                  <a:cubicBezTo>
                    <a:pt x="21663" y="579590"/>
                    <a:pt x="14164" y="576484"/>
                    <a:pt x="8635" y="570955"/>
                  </a:cubicBezTo>
                  <a:cubicBezTo>
                    <a:pt x="3106" y="565426"/>
                    <a:pt x="0" y="557927"/>
                    <a:pt x="0" y="550108"/>
                  </a:cubicBezTo>
                  <a:lnTo>
                    <a:pt x="0" y="29482"/>
                  </a:lnTo>
                  <a:cubicBezTo>
                    <a:pt x="0" y="21663"/>
                    <a:pt x="3106" y="14164"/>
                    <a:pt x="8635" y="8635"/>
                  </a:cubicBezTo>
                  <a:cubicBezTo>
                    <a:pt x="14164" y="3106"/>
                    <a:pt x="21663" y="0"/>
                    <a:pt x="29482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85725"/>
              <a:ext cx="3527223" cy="665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Constructor nhận địa chỉ StudentManagement và kiểm tra địa chỉ đó thực sự chứa mã hợp đồng.</a:t>
              </a:r>
            </a:p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58604" y="6849353"/>
            <a:ext cx="2863571" cy="2200632"/>
            <a:chOff x="0" y="0"/>
            <a:chExt cx="754192" cy="5795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54192" cy="579590"/>
            </a:xfrm>
            <a:custGeom>
              <a:avLst/>
              <a:gdLst/>
              <a:ahLst/>
              <a:cxnLst/>
              <a:rect r="r" b="b" t="t" l="l"/>
              <a:pathLst>
                <a:path h="579590" w="754192">
                  <a:moveTo>
                    <a:pt x="154105" y="0"/>
                  </a:moveTo>
                  <a:lnTo>
                    <a:pt x="600087" y="0"/>
                  </a:lnTo>
                  <a:cubicBezTo>
                    <a:pt x="640958" y="0"/>
                    <a:pt x="680155" y="16236"/>
                    <a:pt x="709055" y="45136"/>
                  </a:cubicBezTo>
                  <a:cubicBezTo>
                    <a:pt x="737956" y="74036"/>
                    <a:pt x="754192" y="113233"/>
                    <a:pt x="754192" y="154105"/>
                  </a:cubicBezTo>
                  <a:lnTo>
                    <a:pt x="754192" y="425486"/>
                  </a:lnTo>
                  <a:cubicBezTo>
                    <a:pt x="754192" y="466357"/>
                    <a:pt x="737956" y="505554"/>
                    <a:pt x="709055" y="534454"/>
                  </a:cubicBezTo>
                  <a:cubicBezTo>
                    <a:pt x="680155" y="563354"/>
                    <a:pt x="640958" y="579590"/>
                    <a:pt x="600087" y="579590"/>
                  </a:cubicBezTo>
                  <a:lnTo>
                    <a:pt x="154105" y="579590"/>
                  </a:lnTo>
                  <a:cubicBezTo>
                    <a:pt x="113233" y="579590"/>
                    <a:pt x="74036" y="563354"/>
                    <a:pt x="45136" y="534454"/>
                  </a:cubicBezTo>
                  <a:cubicBezTo>
                    <a:pt x="16236" y="505554"/>
                    <a:pt x="0" y="466357"/>
                    <a:pt x="0" y="425486"/>
                  </a:cubicBezTo>
                  <a:lnTo>
                    <a:pt x="0" y="154105"/>
                  </a:lnTo>
                  <a:cubicBezTo>
                    <a:pt x="0" y="113233"/>
                    <a:pt x="16236" y="74036"/>
                    <a:pt x="45136" y="45136"/>
                  </a:cubicBezTo>
                  <a:cubicBezTo>
                    <a:pt x="74036" y="16236"/>
                    <a:pt x="113233" y="0"/>
                    <a:pt x="154105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0"/>
              <a:ext cx="754192" cy="674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00BFE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Đ</a:t>
              </a:r>
              <a:r>
                <a:rPr lang="en-US" sz="3999">
                  <a:solidFill>
                    <a:srgbClr val="00BFE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ịa chỉ 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00BFE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liên kết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28700" y="373063"/>
            <a:ext cx="16632747" cy="1125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00"/>
              </a:lnSpc>
              <a:spcBef>
                <a:spcPct val="0"/>
              </a:spcBef>
            </a:pPr>
            <a:r>
              <a:rPr lang="en-US" b="true" sz="635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FacultyManageme</a:t>
            </a:r>
            <a:r>
              <a:rPr lang="en-US" b="true" sz="635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nt và giao tiếp liên hợp đồng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159877" y="1624163"/>
            <a:ext cx="7176772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Khoa gửi điểm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sang StudentManagement qua interface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861885" y="3295428"/>
            <a:ext cx="5232628" cy="104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9"/>
              </a:lnSpc>
              <a:spcBef>
                <a:spcPct val="0"/>
              </a:spcBef>
            </a:pPr>
            <a:r>
              <a:rPr lang="en-US" b="true" sz="298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IStudentMa</a:t>
            </a:r>
            <a:r>
              <a:rPr lang="en-US" b="true" sz="298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nagement</a:t>
            </a:r>
          </a:p>
          <a:p>
            <a:pPr algn="ctr">
              <a:lnSpc>
                <a:spcPts val="4179"/>
              </a:lnSpc>
              <a:spcBef>
                <a:spcPct val="0"/>
              </a:spcBef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4695653" y="4073041"/>
            <a:ext cx="2202922" cy="47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</a:t>
            </a: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ubmitScore()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801579" y="4043139"/>
            <a:ext cx="2202922" cy="47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</a:t>
            </a: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ternal call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7D7B7C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868638"/>
            <a:ext cx="2666026" cy="105238"/>
          </a:xfrm>
          <a:custGeom>
            <a:avLst/>
            <a:gdLst/>
            <a:ahLst/>
            <a:cxnLst/>
            <a:rect r="r" b="b" t="t" l="l"/>
            <a:pathLst>
              <a:path h="105238" w="2666026">
                <a:moveTo>
                  <a:pt x="0" y="0"/>
                </a:moveTo>
                <a:lnTo>
                  <a:pt x="2666026" y="0"/>
                </a:lnTo>
                <a:lnTo>
                  <a:pt x="2666026" y="105238"/>
                </a:lnTo>
                <a:lnTo>
                  <a:pt x="0" y="105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00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92453" y="2236938"/>
            <a:ext cx="12135424" cy="1653726"/>
            <a:chOff x="0" y="0"/>
            <a:chExt cx="3196161" cy="4355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96161" cy="435549"/>
            </a:xfrm>
            <a:custGeom>
              <a:avLst/>
              <a:gdLst/>
              <a:ahLst/>
              <a:cxnLst/>
              <a:rect r="r" b="b" t="t" l="l"/>
              <a:pathLst>
                <a:path h="435549" w="3196161">
                  <a:moveTo>
                    <a:pt x="32536" y="0"/>
                  </a:moveTo>
                  <a:lnTo>
                    <a:pt x="3163625" y="0"/>
                  </a:lnTo>
                  <a:cubicBezTo>
                    <a:pt x="3172254" y="0"/>
                    <a:pt x="3180530" y="3428"/>
                    <a:pt x="3186631" y="9530"/>
                  </a:cubicBezTo>
                  <a:cubicBezTo>
                    <a:pt x="3192733" y="15631"/>
                    <a:pt x="3196161" y="23907"/>
                    <a:pt x="3196161" y="32536"/>
                  </a:cubicBezTo>
                  <a:lnTo>
                    <a:pt x="3196161" y="403013"/>
                  </a:lnTo>
                  <a:cubicBezTo>
                    <a:pt x="3196161" y="420982"/>
                    <a:pt x="3181594" y="435549"/>
                    <a:pt x="3163625" y="435549"/>
                  </a:cubicBezTo>
                  <a:lnTo>
                    <a:pt x="32536" y="435549"/>
                  </a:lnTo>
                  <a:cubicBezTo>
                    <a:pt x="23907" y="435549"/>
                    <a:pt x="15631" y="432121"/>
                    <a:pt x="9530" y="426020"/>
                  </a:cubicBezTo>
                  <a:cubicBezTo>
                    <a:pt x="3428" y="419918"/>
                    <a:pt x="0" y="411642"/>
                    <a:pt x="0" y="403013"/>
                  </a:cubicBezTo>
                  <a:lnTo>
                    <a:pt x="0" y="32536"/>
                  </a:lnTo>
                  <a:cubicBezTo>
                    <a:pt x="0" y="23907"/>
                    <a:pt x="3428" y="15631"/>
                    <a:pt x="9530" y="9530"/>
                  </a:cubicBezTo>
                  <a:cubicBezTo>
                    <a:pt x="15631" y="3428"/>
                    <a:pt x="23907" y="0"/>
                    <a:pt x="32536" y="0"/>
                  </a:cubicBezTo>
                  <a:close/>
                </a:path>
              </a:pathLst>
            </a:custGeom>
            <a:solidFill>
              <a:srgbClr val="08172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04775"/>
              <a:ext cx="3196161" cy="330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3"/>
                </a:lnSpc>
              </a:pPr>
              <a:r>
                <a:rPr lang="en-US" b="true" sz="4750" spc="-137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GPA = Σ (điểm môn × tín chỉ)÷ Σ tín chỉ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913521" y="8803281"/>
            <a:ext cx="10293288" cy="1274643"/>
            <a:chOff x="0" y="0"/>
            <a:chExt cx="2710989" cy="3357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0990" cy="335708"/>
            </a:xfrm>
            <a:custGeom>
              <a:avLst/>
              <a:gdLst/>
              <a:ahLst/>
              <a:cxnLst/>
              <a:rect r="r" b="b" t="t" l="l"/>
              <a:pathLst>
                <a:path h="335708" w="2710990">
                  <a:moveTo>
                    <a:pt x="38359" y="0"/>
                  </a:moveTo>
                  <a:lnTo>
                    <a:pt x="2672631" y="0"/>
                  </a:lnTo>
                  <a:cubicBezTo>
                    <a:pt x="2682804" y="0"/>
                    <a:pt x="2692561" y="4041"/>
                    <a:pt x="2699755" y="11235"/>
                  </a:cubicBezTo>
                  <a:cubicBezTo>
                    <a:pt x="2706948" y="18429"/>
                    <a:pt x="2710990" y="28185"/>
                    <a:pt x="2710990" y="38359"/>
                  </a:cubicBezTo>
                  <a:lnTo>
                    <a:pt x="2710990" y="297350"/>
                  </a:lnTo>
                  <a:cubicBezTo>
                    <a:pt x="2710990" y="307523"/>
                    <a:pt x="2706948" y="317280"/>
                    <a:pt x="2699755" y="324473"/>
                  </a:cubicBezTo>
                  <a:cubicBezTo>
                    <a:pt x="2692561" y="331667"/>
                    <a:pt x="2682804" y="335708"/>
                    <a:pt x="2672631" y="335708"/>
                  </a:cubicBezTo>
                  <a:lnTo>
                    <a:pt x="38359" y="335708"/>
                  </a:lnTo>
                  <a:cubicBezTo>
                    <a:pt x="28185" y="335708"/>
                    <a:pt x="18429" y="331667"/>
                    <a:pt x="11235" y="324473"/>
                  </a:cubicBezTo>
                  <a:cubicBezTo>
                    <a:pt x="4041" y="317280"/>
                    <a:pt x="0" y="307523"/>
                    <a:pt x="0" y="297350"/>
                  </a:cubicBezTo>
                  <a:lnTo>
                    <a:pt x="0" y="38359"/>
                  </a:lnTo>
                  <a:cubicBezTo>
                    <a:pt x="0" y="28185"/>
                    <a:pt x="4041" y="18429"/>
                    <a:pt x="11235" y="11235"/>
                  </a:cubicBezTo>
                  <a:cubicBezTo>
                    <a:pt x="18429" y="4041"/>
                    <a:pt x="28185" y="0"/>
                    <a:pt x="38359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2710989" cy="421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GPA = (24 + 14) / 5 = 7,6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4262139"/>
            <a:ext cx="2637129" cy="837102"/>
            <a:chOff x="0" y="0"/>
            <a:chExt cx="694552" cy="2204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4552" cy="220471"/>
            </a:xfrm>
            <a:custGeom>
              <a:avLst/>
              <a:gdLst/>
              <a:ahLst/>
              <a:cxnLst/>
              <a:rect r="r" b="b" t="t" l="l"/>
              <a:pathLst>
                <a:path h="220471" w="694552">
                  <a:moveTo>
                    <a:pt x="110236" y="0"/>
                  </a:moveTo>
                  <a:lnTo>
                    <a:pt x="584317" y="0"/>
                  </a:lnTo>
                  <a:cubicBezTo>
                    <a:pt x="645198" y="0"/>
                    <a:pt x="694552" y="49354"/>
                    <a:pt x="694552" y="110236"/>
                  </a:cubicBezTo>
                  <a:lnTo>
                    <a:pt x="694552" y="110236"/>
                  </a:lnTo>
                  <a:cubicBezTo>
                    <a:pt x="694552" y="171117"/>
                    <a:pt x="645198" y="220471"/>
                    <a:pt x="584317" y="220471"/>
                  </a:cubicBezTo>
                  <a:lnTo>
                    <a:pt x="110236" y="220471"/>
                  </a:lnTo>
                  <a:cubicBezTo>
                    <a:pt x="49354" y="220471"/>
                    <a:pt x="0" y="171117"/>
                    <a:pt x="0" y="110236"/>
                  </a:cubicBezTo>
                  <a:lnTo>
                    <a:pt x="0" y="110236"/>
                  </a:lnTo>
                  <a:cubicBezTo>
                    <a:pt x="0" y="49354"/>
                    <a:pt x="49354" y="0"/>
                    <a:pt x="11023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694552" cy="277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Ví dụ học kỳ 1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373063"/>
            <a:ext cx="16632747" cy="112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00"/>
              </a:lnSpc>
              <a:spcBef>
                <a:spcPct val="0"/>
              </a:spcBef>
            </a:pPr>
            <a:r>
              <a:rPr lang="en-US" b="true" sz="635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GPA theo </a:t>
            </a:r>
            <a:r>
              <a:rPr lang="en-US" b="true" sz="635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trọng số tín chỉ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13521" y="1624163"/>
            <a:ext cx="7723679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Môn nhiều tín chỉ có ảnh hưở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 lớn hơn đến kết quả học kỳ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57597" y="5470716"/>
            <a:ext cx="2637129" cy="837102"/>
            <a:chOff x="0" y="0"/>
            <a:chExt cx="694552" cy="2204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4552" cy="220471"/>
            </a:xfrm>
            <a:custGeom>
              <a:avLst/>
              <a:gdLst/>
              <a:ahLst/>
              <a:cxnLst/>
              <a:rect r="r" b="b" t="t" l="l"/>
              <a:pathLst>
                <a:path h="220471" w="694552">
                  <a:moveTo>
                    <a:pt x="110236" y="0"/>
                  </a:moveTo>
                  <a:lnTo>
                    <a:pt x="584317" y="0"/>
                  </a:lnTo>
                  <a:cubicBezTo>
                    <a:pt x="645198" y="0"/>
                    <a:pt x="694552" y="49354"/>
                    <a:pt x="694552" y="110236"/>
                  </a:cubicBezTo>
                  <a:lnTo>
                    <a:pt x="694552" y="110236"/>
                  </a:lnTo>
                  <a:cubicBezTo>
                    <a:pt x="694552" y="171117"/>
                    <a:pt x="645198" y="220471"/>
                    <a:pt x="584317" y="220471"/>
                  </a:cubicBezTo>
                  <a:lnTo>
                    <a:pt x="110236" y="220471"/>
                  </a:lnTo>
                  <a:cubicBezTo>
                    <a:pt x="49354" y="220471"/>
                    <a:pt x="0" y="171117"/>
                    <a:pt x="0" y="110236"/>
                  </a:cubicBezTo>
                  <a:lnTo>
                    <a:pt x="0" y="110236"/>
                  </a:lnTo>
                  <a:cubicBezTo>
                    <a:pt x="0" y="49354"/>
                    <a:pt x="49354" y="0"/>
                    <a:pt x="110236" y="0"/>
                  </a:cubicBezTo>
                  <a:close/>
                </a:path>
              </a:pathLst>
            </a:custGeom>
            <a:solidFill>
              <a:srgbClr val="00BFE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694552" cy="277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Môn học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6488793"/>
            <a:ext cx="2637129" cy="837102"/>
            <a:chOff x="0" y="0"/>
            <a:chExt cx="694552" cy="2204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4552" cy="220471"/>
            </a:xfrm>
            <a:custGeom>
              <a:avLst/>
              <a:gdLst/>
              <a:ahLst/>
              <a:cxnLst/>
              <a:rect r="r" b="b" t="t" l="l"/>
              <a:pathLst>
                <a:path h="220471" w="694552">
                  <a:moveTo>
                    <a:pt x="110236" y="0"/>
                  </a:moveTo>
                  <a:lnTo>
                    <a:pt x="584317" y="0"/>
                  </a:lnTo>
                  <a:cubicBezTo>
                    <a:pt x="645198" y="0"/>
                    <a:pt x="694552" y="49354"/>
                    <a:pt x="694552" y="110236"/>
                  </a:cubicBezTo>
                  <a:lnTo>
                    <a:pt x="694552" y="110236"/>
                  </a:lnTo>
                  <a:cubicBezTo>
                    <a:pt x="694552" y="171117"/>
                    <a:pt x="645198" y="220471"/>
                    <a:pt x="584317" y="220471"/>
                  </a:cubicBezTo>
                  <a:lnTo>
                    <a:pt x="110236" y="220471"/>
                  </a:lnTo>
                  <a:cubicBezTo>
                    <a:pt x="49354" y="220471"/>
                    <a:pt x="0" y="171117"/>
                    <a:pt x="0" y="110236"/>
                  </a:cubicBezTo>
                  <a:lnTo>
                    <a:pt x="0" y="110236"/>
                  </a:lnTo>
                  <a:cubicBezTo>
                    <a:pt x="0" y="49354"/>
                    <a:pt x="49354" y="0"/>
                    <a:pt x="11023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694552" cy="277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Toán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965920" y="5470716"/>
            <a:ext cx="2637129" cy="837102"/>
            <a:chOff x="0" y="0"/>
            <a:chExt cx="694552" cy="2204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4552" cy="220471"/>
            </a:xfrm>
            <a:custGeom>
              <a:avLst/>
              <a:gdLst/>
              <a:ahLst/>
              <a:cxnLst/>
              <a:rect r="r" b="b" t="t" l="l"/>
              <a:pathLst>
                <a:path h="220471" w="694552">
                  <a:moveTo>
                    <a:pt x="110236" y="0"/>
                  </a:moveTo>
                  <a:lnTo>
                    <a:pt x="584317" y="0"/>
                  </a:lnTo>
                  <a:cubicBezTo>
                    <a:pt x="645198" y="0"/>
                    <a:pt x="694552" y="49354"/>
                    <a:pt x="694552" y="110236"/>
                  </a:cubicBezTo>
                  <a:lnTo>
                    <a:pt x="694552" y="110236"/>
                  </a:lnTo>
                  <a:cubicBezTo>
                    <a:pt x="694552" y="171117"/>
                    <a:pt x="645198" y="220471"/>
                    <a:pt x="584317" y="220471"/>
                  </a:cubicBezTo>
                  <a:lnTo>
                    <a:pt x="110236" y="220471"/>
                  </a:lnTo>
                  <a:cubicBezTo>
                    <a:pt x="49354" y="220471"/>
                    <a:pt x="0" y="171117"/>
                    <a:pt x="0" y="110236"/>
                  </a:cubicBezTo>
                  <a:lnTo>
                    <a:pt x="0" y="110236"/>
                  </a:lnTo>
                  <a:cubicBezTo>
                    <a:pt x="0" y="49354"/>
                    <a:pt x="49354" y="0"/>
                    <a:pt x="110236" y="0"/>
                  </a:cubicBezTo>
                  <a:close/>
                </a:path>
              </a:pathLst>
            </a:custGeom>
            <a:solidFill>
              <a:srgbClr val="08172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694552" cy="277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Điểm lưu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465362" y="5470716"/>
            <a:ext cx="2637129" cy="837102"/>
            <a:chOff x="0" y="0"/>
            <a:chExt cx="694552" cy="2204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4552" cy="220471"/>
            </a:xfrm>
            <a:custGeom>
              <a:avLst/>
              <a:gdLst/>
              <a:ahLst/>
              <a:cxnLst/>
              <a:rect r="r" b="b" t="t" l="l"/>
              <a:pathLst>
                <a:path h="220471" w="694552">
                  <a:moveTo>
                    <a:pt x="110236" y="0"/>
                  </a:moveTo>
                  <a:lnTo>
                    <a:pt x="584317" y="0"/>
                  </a:lnTo>
                  <a:cubicBezTo>
                    <a:pt x="645198" y="0"/>
                    <a:pt x="694552" y="49354"/>
                    <a:pt x="694552" y="110236"/>
                  </a:cubicBezTo>
                  <a:lnTo>
                    <a:pt x="694552" y="110236"/>
                  </a:lnTo>
                  <a:cubicBezTo>
                    <a:pt x="694552" y="171117"/>
                    <a:pt x="645198" y="220471"/>
                    <a:pt x="584317" y="220471"/>
                  </a:cubicBezTo>
                  <a:lnTo>
                    <a:pt x="110236" y="220471"/>
                  </a:lnTo>
                  <a:cubicBezTo>
                    <a:pt x="49354" y="220471"/>
                    <a:pt x="0" y="171117"/>
                    <a:pt x="0" y="110236"/>
                  </a:cubicBezTo>
                  <a:lnTo>
                    <a:pt x="0" y="110236"/>
                  </a:lnTo>
                  <a:cubicBezTo>
                    <a:pt x="0" y="49354"/>
                    <a:pt x="49354" y="0"/>
                    <a:pt x="110236" y="0"/>
                  </a:cubicBezTo>
                  <a:close/>
                </a:path>
              </a:pathLst>
            </a:custGeom>
            <a:solidFill>
              <a:srgbClr val="08172E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694552" cy="277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Tín chỉ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169291" y="5470716"/>
            <a:ext cx="2637129" cy="837102"/>
            <a:chOff x="0" y="0"/>
            <a:chExt cx="694552" cy="2204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94552" cy="220471"/>
            </a:xfrm>
            <a:custGeom>
              <a:avLst/>
              <a:gdLst/>
              <a:ahLst/>
              <a:cxnLst/>
              <a:rect r="r" b="b" t="t" l="l"/>
              <a:pathLst>
                <a:path h="220471" w="694552">
                  <a:moveTo>
                    <a:pt x="110236" y="0"/>
                  </a:moveTo>
                  <a:lnTo>
                    <a:pt x="584317" y="0"/>
                  </a:lnTo>
                  <a:cubicBezTo>
                    <a:pt x="645198" y="0"/>
                    <a:pt x="694552" y="49354"/>
                    <a:pt x="694552" y="110236"/>
                  </a:cubicBezTo>
                  <a:lnTo>
                    <a:pt x="694552" y="110236"/>
                  </a:lnTo>
                  <a:cubicBezTo>
                    <a:pt x="694552" y="171117"/>
                    <a:pt x="645198" y="220471"/>
                    <a:pt x="584317" y="220471"/>
                  </a:cubicBezTo>
                  <a:lnTo>
                    <a:pt x="110236" y="220471"/>
                  </a:lnTo>
                  <a:cubicBezTo>
                    <a:pt x="49354" y="220471"/>
                    <a:pt x="0" y="171117"/>
                    <a:pt x="0" y="110236"/>
                  </a:cubicBezTo>
                  <a:lnTo>
                    <a:pt x="0" y="110236"/>
                  </a:lnTo>
                  <a:cubicBezTo>
                    <a:pt x="0" y="49354"/>
                    <a:pt x="49354" y="0"/>
                    <a:pt x="110236" y="0"/>
                  </a:cubicBezTo>
                  <a:close/>
                </a:path>
              </a:pathLst>
            </a:custGeom>
            <a:solidFill>
              <a:srgbClr val="08172E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694552" cy="277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Điểm x tín chỉ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28700" y="7506871"/>
            <a:ext cx="2637129" cy="837102"/>
            <a:chOff x="0" y="0"/>
            <a:chExt cx="694552" cy="22047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94552" cy="220471"/>
            </a:xfrm>
            <a:custGeom>
              <a:avLst/>
              <a:gdLst/>
              <a:ahLst/>
              <a:cxnLst/>
              <a:rect r="r" b="b" t="t" l="l"/>
              <a:pathLst>
                <a:path h="220471" w="694552">
                  <a:moveTo>
                    <a:pt x="110236" y="0"/>
                  </a:moveTo>
                  <a:lnTo>
                    <a:pt x="584317" y="0"/>
                  </a:lnTo>
                  <a:cubicBezTo>
                    <a:pt x="645198" y="0"/>
                    <a:pt x="694552" y="49354"/>
                    <a:pt x="694552" y="110236"/>
                  </a:cubicBezTo>
                  <a:lnTo>
                    <a:pt x="694552" y="110236"/>
                  </a:lnTo>
                  <a:cubicBezTo>
                    <a:pt x="694552" y="171117"/>
                    <a:pt x="645198" y="220471"/>
                    <a:pt x="584317" y="220471"/>
                  </a:cubicBezTo>
                  <a:lnTo>
                    <a:pt x="110236" y="220471"/>
                  </a:lnTo>
                  <a:cubicBezTo>
                    <a:pt x="49354" y="220471"/>
                    <a:pt x="0" y="171117"/>
                    <a:pt x="0" y="110236"/>
                  </a:cubicBezTo>
                  <a:lnTo>
                    <a:pt x="0" y="110236"/>
                  </a:lnTo>
                  <a:cubicBezTo>
                    <a:pt x="0" y="49354"/>
                    <a:pt x="49354" y="0"/>
                    <a:pt x="11023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694552" cy="277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Lập trình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965920" y="6488793"/>
            <a:ext cx="2637129" cy="837102"/>
            <a:chOff x="0" y="0"/>
            <a:chExt cx="694552" cy="2204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94552" cy="220471"/>
            </a:xfrm>
            <a:custGeom>
              <a:avLst/>
              <a:gdLst/>
              <a:ahLst/>
              <a:cxnLst/>
              <a:rect r="r" b="b" t="t" l="l"/>
              <a:pathLst>
                <a:path h="220471" w="694552">
                  <a:moveTo>
                    <a:pt x="110236" y="0"/>
                  </a:moveTo>
                  <a:lnTo>
                    <a:pt x="584317" y="0"/>
                  </a:lnTo>
                  <a:cubicBezTo>
                    <a:pt x="645198" y="0"/>
                    <a:pt x="694552" y="49354"/>
                    <a:pt x="694552" y="110236"/>
                  </a:cubicBezTo>
                  <a:lnTo>
                    <a:pt x="694552" y="110236"/>
                  </a:lnTo>
                  <a:cubicBezTo>
                    <a:pt x="694552" y="171117"/>
                    <a:pt x="645198" y="220471"/>
                    <a:pt x="584317" y="220471"/>
                  </a:cubicBezTo>
                  <a:lnTo>
                    <a:pt x="110236" y="220471"/>
                  </a:lnTo>
                  <a:cubicBezTo>
                    <a:pt x="49354" y="220471"/>
                    <a:pt x="0" y="171117"/>
                    <a:pt x="0" y="110236"/>
                  </a:cubicBezTo>
                  <a:lnTo>
                    <a:pt x="0" y="110236"/>
                  </a:lnTo>
                  <a:cubicBezTo>
                    <a:pt x="0" y="49354"/>
                    <a:pt x="49354" y="0"/>
                    <a:pt x="11023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694552" cy="277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8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965920" y="7506871"/>
            <a:ext cx="2637129" cy="837102"/>
            <a:chOff x="0" y="0"/>
            <a:chExt cx="694552" cy="22047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94552" cy="220471"/>
            </a:xfrm>
            <a:custGeom>
              <a:avLst/>
              <a:gdLst/>
              <a:ahLst/>
              <a:cxnLst/>
              <a:rect r="r" b="b" t="t" l="l"/>
              <a:pathLst>
                <a:path h="220471" w="694552">
                  <a:moveTo>
                    <a:pt x="110236" y="0"/>
                  </a:moveTo>
                  <a:lnTo>
                    <a:pt x="584317" y="0"/>
                  </a:lnTo>
                  <a:cubicBezTo>
                    <a:pt x="645198" y="0"/>
                    <a:pt x="694552" y="49354"/>
                    <a:pt x="694552" y="110236"/>
                  </a:cubicBezTo>
                  <a:lnTo>
                    <a:pt x="694552" y="110236"/>
                  </a:lnTo>
                  <a:cubicBezTo>
                    <a:pt x="694552" y="171117"/>
                    <a:pt x="645198" y="220471"/>
                    <a:pt x="584317" y="220471"/>
                  </a:cubicBezTo>
                  <a:lnTo>
                    <a:pt x="110236" y="220471"/>
                  </a:lnTo>
                  <a:cubicBezTo>
                    <a:pt x="49354" y="220471"/>
                    <a:pt x="0" y="171117"/>
                    <a:pt x="0" y="110236"/>
                  </a:cubicBezTo>
                  <a:lnTo>
                    <a:pt x="0" y="110236"/>
                  </a:lnTo>
                  <a:cubicBezTo>
                    <a:pt x="0" y="49354"/>
                    <a:pt x="49354" y="0"/>
                    <a:pt x="11023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694552" cy="277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7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465362" y="6488793"/>
            <a:ext cx="2637129" cy="837102"/>
            <a:chOff x="0" y="0"/>
            <a:chExt cx="694552" cy="22047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94552" cy="220471"/>
            </a:xfrm>
            <a:custGeom>
              <a:avLst/>
              <a:gdLst/>
              <a:ahLst/>
              <a:cxnLst/>
              <a:rect r="r" b="b" t="t" l="l"/>
              <a:pathLst>
                <a:path h="220471" w="694552">
                  <a:moveTo>
                    <a:pt x="110236" y="0"/>
                  </a:moveTo>
                  <a:lnTo>
                    <a:pt x="584317" y="0"/>
                  </a:lnTo>
                  <a:cubicBezTo>
                    <a:pt x="645198" y="0"/>
                    <a:pt x="694552" y="49354"/>
                    <a:pt x="694552" y="110236"/>
                  </a:cubicBezTo>
                  <a:lnTo>
                    <a:pt x="694552" y="110236"/>
                  </a:lnTo>
                  <a:cubicBezTo>
                    <a:pt x="694552" y="171117"/>
                    <a:pt x="645198" y="220471"/>
                    <a:pt x="584317" y="220471"/>
                  </a:cubicBezTo>
                  <a:lnTo>
                    <a:pt x="110236" y="220471"/>
                  </a:lnTo>
                  <a:cubicBezTo>
                    <a:pt x="49354" y="220471"/>
                    <a:pt x="0" y="171117"/>
                    <a:pt x="0" y="110236"/>
                  </a:cubicBezTo>
                  <a:lnTo>
                    <a:pt x="0" y="110236"/>
                  </a:lnTo>
                  <a:cubicBezTo>
                    <a:pt x="0" y="49354"/>
                    <a:pt x="49354" y="0"/>
                    <a:pt x="11023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694552" cy="277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465362" y="7506871"/>
            <a:ext cx="2637129" cy="837102"/>
            <a:chOff x="0" y="0"/>
            <a:chExt cx="694552" cy="22047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94552" cy="220471"/>
            </a:xfrm>
            <a:custGeom>
              <a:avLst/>
              <a:gdLst/>
              <a:ahLst/>
              <a:cxnLst/>
              <a:rect r="r" b="b" t="t" l="l"/>
              <a:pathLst>
                <a:path h="220471" w="694552">
                  <a:moveTo>
                    <a:pt x="110236" y="0"/>
                  </a:moveTo>
                  <a:lnTo>
                    <a:pt x="584317" y="0"/>
                  </a:lnTo>
                  <a:cubicBezTo>
                    <a:pt x="645198" y="0"/>
                    <a:pt x="694552" y="49354"/>
                    <a:pt x="694552" y="110236"/>
                  </a:cubicBezTo>
                  <a:lnTo>
                    <a:pt x="694552" y="110236"/>
                  </a:lnTo>
                  <a:cubicBezTo>
                    <a:pt x="694552" y="171117"/>
                    <a:pt x="645198" y="220471"/>
                    <a:pt x="584317" y="220471"/>
                  </a:cubicBezTo>
                  <a:lnTo>
                    <a:pt x="110236" y="220471"/>
                  </a:lnTo>
                  <a:cubicBezTo>
                    <a:pt x="49354" y="220471"/>
                    <a:pt x="0" y="171117"/>
                    <a:pt x="0" y="110236"/>
                  </a:cubicBezTo>
                  <a:lnTo>
                    <a:pt x="0" y="110236"/>
                  </a:lnTo>
                  <a:cubicBezTo>
                    <a:pt x="0" y="49354"/>
                    <a:pt x="49354" y="0"/>
                    <a:pt x="11023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694552" cy="277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169291" y="6488793"/>
            <a:ext cx="2637129" cy="837102"/>
            <a:chOff x="0" y="0"/>
            <a:chExt cx="694552" cy="22047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94552" cy="220471"/>
            </a:xfrm>
            <a:custGeom>
              <a:avLst/>
              <a:gdLst/>
              <a:ahLst/>
              <a:cxnLst/>
              <a:rect r="r" b="b" t="t" l="l"/>
              <a:pathLst>
                <a:path h="220471" w="694552">
                  <a:moveTo>
                    <a:pt x="110236" y="0"/>
                  </a:moveTo>
                  <a:lnTo>
                    <a:pt x="584317" y="0"/>
                  </a:lnTo>
                  <a:cubicBezTo>
                    <a:pt x="645198" y="0"/>
                    <a:pt x="694552" y="49354"/>
                    <a:pt x="694552" y="110236"/>
                  </a:cubicBezTo>
                  <a:lnTo>
                    <a:pt x="694552" y="110236"/>
                  </a:lnTo>
                  <a:cubicBezTo>
                    <a:pt x="694552" y="171117"/>
                    <a:pt x="645198" y="220471"/>
                    <a:pt x="584317" y="220471"/>
                  </a:cubicBezTo>
                  <a:lnTo>
                    <a:pt x="110236" y="220471"/>
                  </a:lnTo>
                  <a:cubicBezTo>
                    <a:pt x="49354" y="220471"/>
                    <a:pt x="0" y="171117"/>
                    <a:pt x="0" y="110236"/>
                  </a:cubicBezTo>
                  <a:lnTo>
                    <a:pt x="0" y="110236"/>
                  </a:lnTo>
                  <a:cubicBezTo>
                    <a:pt x="0" y="49354"/>
                    <a:pt x="49354" y="0"/>
                    <a:pt x="11023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694552" cy="277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24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169291" y="7506871"/>
            <a:ext cx="2637129" cy="837102"/>
            <a:chOff x="0" y="0"/>
            <a:chExt cx="694552" cy="22047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94552" cy="220471"/>
            </a:xfrm>
            <a:custGeom>
              <a:avLst/>
              <a:gdLst/>
              <a:ahLst/>
              <a:cxnLst/>
              <a:rect r="r" b="b" t="t" l="l"/>
              <a:pathLst>
                <a:path h="220471" w="694552">
                  <a:moveTo>
                    <a:pt x="110236" y="0"/>
                  </a:moveTo>
                  <a:lnTo>
                    <a:pt x="584317" y="0"/>
                  </a:lnTo>
                  <a:cubicBezTo>
                    <a:pt x="645198" y="0"/>
                    <a:pt x="694552" y="49354"/>
                    <a:pt x="694552" y="110236"/>
                  </a:cubicBezTo>
                  <a:lnTo>
                    <a:pt x="694552" y="110236"/>
                  </a:lnTo>
                  <a:cubicBezTo>
                    <a:pt x="694552" y="171117"/>
                    <a:pt x="645198" y="220471"/>
                    <a:pt x="584317" y="220471"/>
                  </a:cubicBezTo>
                  <a:lnTo>
                    <a:pt x="110236" y="220471"/>
                  </a:lnTo>
                  <a:cubicBezTo>
                    <a:pt x="49354" y="220471"/>
                    <a:pt x="0" y="171117"/>
                    <a:pt x="0" y="110236"/>
                  </a:cubicBezTo>
                  <a:lnTo>
                    <a:pt x="0" y="110236"/>
                  </a:lnTo>
                  <a:cubicBezTo>
                    <a:pt x="0" y="49354"/>
                    <a:pt x="49354" y="0"/>
                    <a:pt x="11023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694552" cy="277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7D7B7C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868638"/>
            <a:ext cx="2666026" cy="105238"/>
          </a:xfrm>
          <a:custGeom>
            <a:avLst/>
            <a:gdLst/>
            <a:ahLst/>
            <a:cxnLst/>
            <a:rect r="r" b="b" t="t" l="l"/>
            <a:pathLst>
              <a:path h="105238" w="2666026">
                <a:moveTo>
                  <a:pt x="0" y="0"/>
                </a:moveTo>
                <a:lnTo>
                  <a:pt x="2666026" y="0"/>
                </a:lnTo>
                <a:lnTo>
                  <a:pt x="2666026" y="105238"/>
                </a:lnTo>
                <a:lnTo>
                  <a:pt x="0" y="105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0000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15008" y="3304297"/>
            <a:ext cx="4322192" cy="2803202"/>
          </a:xfrm>
          <a:custGeom>
            <a:avLst/>
            <a:gdLst/>
            <a:ahLst/>
            <a:cxnLst/>
            <a:rect r="r" b="b" t="t" l="l"/>
            <a:pathLst>
              <a:path h="2803202" w="4322192">
                <a:moveTo>
                  <a:pt x="0" y="0"/>
                </a:moveTo>
                <a:lnTo>
                  <a:pt x="4322192" y="0"/>
                </a:lnTo>
                <a:lnTo>
                  <a:pt x="4322192" y="2803202"/>
                </a:lnTo>
                <a:lnTo>
                  <a:pt x="0" y="2803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39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91671" y="3395542"/>
            <a:ext cx="3661082" cy="2668541"/>
            <a:chOff x="0" y="0"/>
            <a:chExt cx="4881442" cy="35580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81442" cy="3558055"/>
            </a:xfrm>
            <a:custGeom>
              <a:avLst/>
              <a:gdLst/>
              <a:ahLst/>
              <a:cxnLst/>
              <a:rect r="r" b="b" t="t" l="l"/>
              <a:pathLst>
                <a:path h="3558055" w="4881442">
                  <a:moveTo>
                    <a:pt x="0" y="0"/>
                  </a:moveTo>
                  <a:lnTo>
                    <a:pt x="4881442" y="0"/>
                  </a:lnTo>
                  <a:lnTo>
                    <a:pt x="4881442" y="3558055"/>
                  </a:lnTo>
                  <a:lnTo>
                    <a:pt x="0" y="3558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244" t="0" r="-3244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190617"/>
              <a:ext cx="4881442" cy="6953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Đ</a:t>
              </a:r>
              <a:r>
                <a:rPr lang="en-US" sz="30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ANG HỌC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013535"/>
              <a:ext cx="4881442" cy="5535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31"/>
                </a:lnSpc>
                <a:spcBef>
                  <a:spcPct val="0"/>
                </a:spcBef>
              </a:pPr>
              <a:r>
                <a:rPr lang="en-US" sz="24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</a:t>
              </a:r>
              <a:r>
                <a:rPr lang="en-US" sz="24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nsecutiveFails = 0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237505" y="4634562"/>
            <a:ext cx="4481389" cy="474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6"/>
              </a:lnSpc>
              <a:spcBef>
                <a:spcPct val="0"/>
              </a:spcBef>
            </a:pPr>
            <a:r>
              <a:rPr lang="en-US" sz="267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Không đạt lần 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004501" y="3371628"/>
            <a:ext cx="4107050" cy="2668541"/>
            <a:chOff x="0" y="0"/>
            <a:chExt cx="5476067" cy="35580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72098" cy="3558055"/>
            </a:xfrm>
            <a:custGeom>
              <a:avLst/>
              <a:gdLst/>
              <a:ahLst/>
              <a:cxnLst/>
              <a:rect r="r" b="b" t="t" l="l"/>
              <a:pathLst>
                <a:path h="3558055" w="5472098">
                  <a:moveTo>
                    <a:pt x="0" y="0"/>
                  </a:moveTo>
                  <a:lnTo>
                    <a:pt x="5472098" y="0"/>
                  </a:lnTo>
                  <a:lnTo>
                    <a:pt x="5472098" y="3558055"/>
                  </a:lnTo>
                  <a:lnTo>
                    <a:pt x="0" y="3558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634" r="0" b="-263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190617"/>
              <a:ext cx="5472098" cy="6953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THÔI HỌC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969" y="1457948"/>
              <a:ext cx="5472098" cy="5535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31"/>
                </a:lnSpc>
                <a:spcBef>
                  <a:spcPct val="0"/>
                </a:spcBef>
              </a:pPr>
              <a:r>
                <a:rPr lang="en-US" sz="24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</a:t>
              </a:r>
              <a:r>
                <a:rPr lang="en-US" sz="24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hông đạt 2 kỳ liên tiếp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flipV="true">
            <a:off x="4352753" y="4710762"/>
            <a:ext cx="2962255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4" id="14"/>
          <p:cNvSpPr/>
          <p:nvPr/>
        </p:nvSpPr>
        <p:spPr>
          <a:xfrm>
            <a:off x="11637200" y="4705898"/>
            <a:ext cx="241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5" id="15"/>
          <p:cNvGrpSpPr/>
          <p:nvPr/>
        </p:nvGrpSpPr>
        <p:grpSpPr>
          <a:xfrm rot="0">
            <a:off x="2447787" y="8602674"/>
            <a:ext cx="13392425" cy="1308631"/>
            <a:chOff x="0" y="0"/>
            <a:chExt cx="3527223" cy="3446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27223" cy="344660"/>
            </a:xfrm>
            <a:custGeom>
              <a:avLst/>
              <a:gdLst/>
              <a:ahLst/>
              <a:cxnLst/>
              <a:rect r="r" b="b" t="t" l="l"/>
              <a:pathLst>
                <a:path h="344660" w="3527223">
                  <a:moveTo>
                    <a:pt x="29482" y="0"/>
                  </a:moveTo>
                  <a:lnTo>
                    <a:pt x="3497741" y="0"/>
                  </a:lnTo>
                  <a:cubicBezTo>
                    <a:pt x="3514023" y="0"/>
                    <a:pt x="3527223" y="13200"/>
                    <a:pt x="3527223" y="29482"/>
                  </a:cubicBezTo>
                  <a:lnTo>
                    <a:pt x="3527223" y="315178"/>
                  </a:lnTo>
                  <a:cubicBezTo>
                    <a:pt x="3527223" y="322997"/>
                    <a:pt x="3524117" y="330496"/>
                    <a:pt x="3518588" y="336025"/>
                  </a:cubicBezTo>
                  <a:cubicBezTo>
                    <a:pt x="3513059" y="341554"/>
                    <a:pt x="3505560" y="344660"/>
                    <a:pt x="3497741" y="344660"/>
                  </a:cubicBezTo>
                  <a:lnTo>
                    <a:pt x="29482" y="344660"/>
                  </a:lnTo>
                  <a:cubicBezTo>
                    <a:pt x="13200" y="344660"/>
                    <a:pt x="0" y="331460"/>
                    <a:pt x="0" y="315178"/>
                  </a:cubicBezTo>
                  <a:lnTo>
                    <a:pt x="0" y="29482"/>
                  </a:lnTo>
                  <a:cubicBezTo>
                    <a:pt x="0" y="21663"/>
                    <a:pt x="3106" y="14164"/>
                    <a:pt x="8635" y="8635"/>
                  </a:cubicBezTo>
                  <a:cubicBezTo>
                    <a:pt x="14164" y="3106"/>
                    <a:pt x="21663" y="0"/>
                    <a:pt x="29482" y="0"/>
                  </a:cubicBezTo>
                  <a:close/>
                </a:path>
              </a:pathLst>
            </a:custGeom>
            <a:solidFill>
              <a:srgbClr val="BBE9F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3527223" cy="4303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Sau khi đã Thôi học, hợp đồng chặn nhập điểm và đánh giá tiếp.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694726" y="6949510"/>
            <a:ext cx="11916051" cy="1110239"/>
            <a:chOff x="0" y="0"/>
            <a:chExt cx="3138384" cy="2924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38384" cy="292409"/>
            </a:xfrm>
            <a:custGeom>
              <a:avLst/>
              <a:gdLst/>
              <a:ahLst/>
              <a:cxnLst/>
              <a:rect r="r" b="b" t="t" l="l"/>
              <a:pathLst>
                <a:path h="292409" w="3138384">
                  <a:moveTo>
                    <a:pt x="37033" y="0"/>
                  </a:moveTo>
                  <a:lnTo>
                    <a:pt x="3101351" y="0"/>
                  </a:lnTo>
                  <a:cubicBezTo>
                    <a:pt x="3121803" y="0"/>
                    <a:pt x="3138384" y="16580"/>
                    <a:pt x="3138384" y="37033"/>
                  </a:cubicBezTo>
                  <a:lnTo>
                    <a:pt x="3138384" y="255375"/>
                  </a:lnTo>
                  <a:cubicBezTo>
                    <a:pt x="3138384" y="275828"/>
                    <a:pt x="3121803" y="292409"/>
                    <a:pt x="3101351" y="292409"/>
                  </a:cubicBezTo>
                  <a:lnTo>
                    <a:pt x="37033" y="292409"/>
                  </a:lnTo>
                  <a:cubicBezTo>
                    <a:pt x="16580" y="292409"/>
                    <a:pt x="0" y="275828"/>
                    <a:pt x="0" y="255375"/>
                  </a:cubicBezTo>
                  <a:lnTo>
                    <a:pt x="0" y="37033"/>
                  </a:lnTo>
                  <a:cubicBezTo>
                    <a:pt x="0" y="16580"/>
                    <a:pt x="16580" y="0"/>
                    <a:pt x="37033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85725"/>
              <a:ext cx="3138384" cy="378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sz="34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GPA ≥ 500: trở lại Đang học và đặt số lần không đạt về 0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28700" y="373063"/>
            <a:ext cx="16632747" cy="112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00"/>
              </a:lnSpc>
              <a:spcBef>
                <a:spcPct val="0"/>
              </a:spcBef>
            </a:pPr>
            <a:r>
              <a:rPr lang="en-US" b="true" sz="635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Máy trạng thái học tập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159877" y="1624163"/>
            <a:ext cx="7176772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Ngưỡ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 đạt là GPA từ 5,00 trở lên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61885" y="3295428"/>
            <a:ext cx="5232628" cy="52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9"/>
              </a:lnSpc>
              <a:spcBef>
                <a:spcPct val="0"/>
              </a:spcBef>
            </a:pPr>
            <a:r>
              <a:rPr lang="en-US" b="true" sz="298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CẢNH BÁO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95653" y="4073041"/>
            <a:ext cx="2202922" cy="47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GPA &lt; 500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01579" y="4043139"/>
            <a:ext cx="2202922" cy="47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GPA &lt; 500</a:t>
            </a:r>
          </a:p>
        </p:txBody>
      </p:sp>
      <p:sp>
        <p:nvSpPr>
          <p:cNvPr name="Freeform 26" id="26"/>
          <p:cNvSpPr/>
          <p:nvPr/>
        </p:nvSpPr>
        <p:spPr>
          <a:xfrm>
            <a:off x="2440494" y="6090429"/>
            <a:ext cx="6425627" cy="264175"/>
          </a:xfrm>
          <a:custGeom>
            <a:avLst/>
            <a:gdLst/>
            <a:ahLst/>
            <a:cxnLst/>
            <a:rect r="r" b="b" t="t" l="l"/>
            <a:pathLst>
              <a:path h="264175" w="6425627">
                <a:moveTo>
                  <a:pt x="6225453" y="17070"/>
                </a:moveTo>
                <a:quadBezTo>
                  <a:pt x="7559756" y="519672"/>
                  <a:pt x="0" y="0"/>
                </a:quadBezTo>
              </a:path>
            </a:pathLst>
          </a:custGeom>
          <a:ln cap="rnd" w="95250">
            <a:solidFill>
              <a:srgbClr val="106914"/>
            </a:solidFill>
            <a:prstDash val="sysDot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2608" y="300046"/>
            <a:ext cx="6236208" cy="547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7"/>
              </a:lnSpc>
            </a:pPr>
            <a:r>
              <a:rPr lang="en-US" sz="4067" b="true">
                <a:solidFill>
                  <a:srgbClr val="152544"/>
                </a:solidFill>
                <a:latin typeface="Asap Bold"/>
                <a:ea typeface="Asap Bold"/>
                <a:cs typeface="Asap Bold"/>
                <a:sym typeface="Asap Bold"/>
              </a:rPr>
              <a:t>Quy trình xử lý một học kỳ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16193" y="908074"/>
            <a:ext cx="1316815" cy="432387"/>
          </a:xfrm>
          <a:custGeom>
            <a:avLst/>
            <a:gdLst/>
            <a:ahLst/>
            <a:cxnLst/>
            <a:rect r="r" b="b" t="t" l="l"/>
            <a:pathLst>
              <a:path h="432387" w="1316815">
                <a:moveTo>
                  <a:pt x="0" y="0"/>
                </a:moveTo>
                <a:lnTo>
                  <a:pt x="1316815" y="0"/>
                </a:lnTo>
                <a:lnTo>
                  <a:pt x="1316815" y="432387"/>
                </a:lnTo>
                <a:lnTo>
                  <a:pt x="0" y="4323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91056" y="953822"/>
            <a:ext cx="7214616" cy="440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518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Mỗi bước sau chỉ chạy khi dữ liệu trước đó hợp lệ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80967" y="2382120"/>
            <a:ext cx="1100621" cy="864774"/>
          </a:xfrm>
          <a:custGeom>
            <a:avLst/>
            <a:gdLst/>
            <a:ahLst/>
            <a:cxnLst/>
            <a:rect r="r" b="b" t="t" l="l"/>
            <a:pathLst>
              <a:path h="864774" w="1100621">
                <a:moveTo>
                  <a:pt x="0" y="0"/>
                </a:moveTo>
                <a:lnTo>
                  <a:pt x="1100621" y="0"/>
                </a:lnTo>
                <a:lnTo>
                  <a:pt x="1100621" y="864774"/>
                </a:lnTo>
                <a:lnTo>
                  <a:pt x="0" y="8647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55568" y="2598314"/>
            <a:ext cx="1533008" cy="432387"/>
          </a:xfrm>
          <a:custGeom>
            <a:avLst/>
            <a:gdLst/>
            <a:ahLst/>
            <a:cxnLst/>
            <a:rect r="r" b="b" t="t" l="l"/>
            <a:pathLst>
              <a:path h="432387" w="1533008">
                <a:moveTo>
                  <a:pt x="0" y="0"/>
                </a:moveTo>
                <a:lnTo>
                  <a:pt x="1533008" y="0"/>
                </a:lnTo>
                <a:lnTo>
                  <a:pt x="1533008" y="432386"/>
                </a:lnTo>
                <a:lnTo>
                  <a:pt x="0" y="4323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127329" y="2382120"/>
            <a:ext cx="1100621" cy="864774"/>
          </a:xfrm>
          <a:custGeom>
            <a:avLst/>
            <a:gdLst/>
            <a:ahLst/>
            <a:cxnLst/>
            <a:rect r="r" b="b" t="t" l="l"/>
            <a:pathLst>
              <a:path h="864774" w="1100621">
                <a:moveTo>
                  <a:pt x="0" y="0"/>
                </a:moveTo>
                <a:lnTo>
                  <a:pt x="1100622" y="0"/>
                </a:lnTo>
                <a:lnTo>
                  <a:pt x="1100622" y="864774"/>
                </a:lnTo>
                <a:lnTo>
                  <a:pt x="0" y="8647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590288" y="2617413"/>
            <a:ext cx="164592" cy="33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sz="2043" b="true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2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001930" y="2598314"/>
            <a:ext cx="1533008" cy="432387"/>
          </a:xfrm>
          <a:custGeom>
            <a:avLst/>
            <a:gdLst/>
            <a:ahLst/>
            <a:cxnLst/>
            <a:rect r="r" b="b" t="t" l="l"/>
            <a:pathLst>
              <a:path h="432387" w="1533008">
                <a:moveTo>
                  <a:pt x="0" y="0"/>
                </a:moveTo>
                <a:lnTo>
                  <a:pt x="1533008" y="0"/>
                </a:lnTo>
                <a:lnTo>
                  <a:pt x="1533008" y="432386"/>
                </a:lnTo>
                <a:lnTo>
                  <a:pt x="0" y="4323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183519" y="2382120"/>
            <a:ext cx="1090794" cy="864774"/>
          </a:xfrm>
          <a:custGeom>
            <a:avLst/>
            <a:gdLst/>
            <a:ahLst/>
            <a:cxnLst/>
            <a:rect r="r" b="b" t="t" l="l"/>
            <a:pathLst>
              <a:path h="864774" w="1090794">
                <a:moveTo>
                  <a:pt x="0" y="0"/>
                </a:moveTo>
                <a:lnTo>
                  <a:pt x="1090794" y="0"/>
                </a:lnTo>
                <a:lnTo>
                  <a:pt x="1090794" y="864774"/>
                </a:lnTo>
                <a:lnTo>
                  <a:pt x="0" y="8647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644384" y="2617413"/>
            <a:ext cx="164592" cy="33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sz="2043" b="true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3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048292" y="2598314"/>
            <a:ext cx="1533008" cy="432387"/>
          </a:xfrm>
          <a:custGeom>
            <a:avLst/>
            <a:gdLst/>
            <a:ahLst/>
            <a:cxnLst/>
            <a:rect r="r" b="b" t="t" l="l"/>
            <a:pathLst>
              <a:path h="432387" w="1533008">
                <a:moveTo>
                  <a:pt x="0" y="0"/>
                </a:moveTo>
                <a:lnTo>
                  <a:pt x="1533008" y="0"/>
                </a:lnTo>
                <a:lnTo>
                  <a:pt x="1533008" y="432386"/>
                </a:lnTo>
                <a:lnTo>
                  <a:pt x="0" y="4323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29881" y="2382120"/>
            <a:ext cx="874601" cy="864774"/>
          </a:xfrm>
          <a:custGeom>
            <a:avLst/>
            <a:gdLst/>
            <a:ahLst/>
            <a:cxnLst/>
            <a:rect r="r" b="b" t="t" l="l"/>
            <a:pathLst>
              <a:path h="864774" w="874601">
                <a:moveTo>
                  <a:pt x="0" y="0"/>
                </a:moveTo>
                <a:lnTo>
                  <a:pt x="874600" y="0"/>
                </a:lnTo>
                <a:lnTo>
                  <a:pt x="874600" y="864774"/>
                </a:lnTo>
                <a:lnTo>
                  <a:pt x="0" y="8647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680192" y="2617413"/>
            <a:ext cx="164592" cy="33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sz="2043" b="true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4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1094654" y="2598314"/>
            <a:ext cx="1533008" cy="432387"/>
          </a:xfrm>
          <a:custGeom>
            <a:avLst/>
            <a:gdLst/>
            <a:ahLst/>
            <a:cxnLst/>
            <a:rect r="r" b="b" t="t" l="l"/>
            <a:pathLst>
              <a:path h="432387" w="1533008">
                <a:moveTo>
                  <a:pt x="0" y="0"/>
                </a:moveTo>
                <a:lnTo>
                  <a:pt x="1533009" y="0"/>
                </a:lnTo>
                <a:lnTo>
                  <a:pt x="1533009" y="432386"/>
                </a:lnTo>
                <a:lnTo>
                  <a:pt x="0" y="43238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276243" y="2382120"/>
            <a:ext cx="884428" cy="864774"/>
          </a:xfrm>
          <a:custGeom>
            <a:avLst/>
            <a:gdLst/>
            <a:ahLst/>
            <a:cxnLst/>
            <a:rect r="r" b="b" t="t" l="l"/>
            <a:pathLst>
              <a:path h="864774" w="884428">
                <a:moveTo>
                  <a:pt x="0" y="0"/>
                </a:moveTo>
                <a:lnTo>
                  <a:pt x="884428" y="0"/>
                </a:lnTo>
                <a:lnTo>
                  <a:pt x="884428" y="864774"/>
                </a:lnTo>
                <a:lnTo>
                  <a:pt x="0" y="86477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716000" y="2617413"/>
            <a:ext cx="164592" cy="33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sz="2043" b="true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5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4150844" y="2598314"/>
            <a:ext cx="1533008" cy="432387"/>
          </a:xfrm>
          <a:custGeom>
            <a:avLst/>
            <a:gdLst/>
            <a:ahLst/>
            <a:cxnLst/>
            <a:rect r="r" b="b" t="t" l="l"/>
            <a:pathLst>
              <a:path h="432387" w="1533008">
                <a:moveTo>
                  <a:pt x="0" y="0"/>
                </a:moveTo>
                <a:lnTo>
                  <a:pt x="1533008" y="0"/>
                </a:lnTo>
                <a:lnTo>
                  <a:pt x="1533008" y="432386"/>
                </a:lnTo>
                <a:lnTo>
                  <a:pt x="0" y="43238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322605" y="2382120"/>
            <a:ext cx="884428" cy="864774"/>
          </a:xfrm>
          <a:custGeom>
            <a:avLst/>
            <a:gdLst/>
            <a:ahLst/>
            <a:cxnLst/>
            <a:rect r="r" b="b" t="t" l="l"/>
            <a:pathLst>
              <a:path h="864774" w="884428">
                <a:moveTo>
                  <a:pt x="0" y="0"/>
                </a:moveTo>
                <a:lnTo>
                  <a:pt x="884428" y="0"/>
                </a:lnTo>
                <a:lnTo>
                  <a:pt x="884428" y="864774"/>
                </a:lnTo>
                <a:lnTo>
                  <a:pt x="0" y="86477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86384" y="3785316"/>
            <a:ext cx="1993392" cy="393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8"/>
              </a:lnSpc>
            </a:pPr>
            <a:r>
              <a:rPr lang="en-US" sz="2241" b="true">
                <a:solidFill>
                  <a:srgbClr val="3772B1"/>
                </a:solidFill>
                <a:latin typeface="Asap Bold"/>
                <a:ea typeface="Asap Bold"/>
                <a:cs typeface="Asap Bold"/>
                <a:sym typeface="Asap Bold"/>
              </a:rPr>
              <a:t>Thêm sinh viên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216193" y="4504747"/>
            <a:ext cx="3056189" cy="854947"/>
          </a:xfrm>
          <a:custGeom>
            <a:avLst/>
            <a:gdLst/>
            <a:ahLst/>
            <a:cxnLst/>
            <a:rect r="r" b="b" t="t" l="l"/>
            <a:pathLst>
              <a:path h="854947" w="3056189">
                <a:moveTo>
                  <a:pt x="0" y="0"/>
                </a:moveTo>
                <a:lnTo>
                  <a:pt x="3056190" y="0"/>
                </a:lnTo>
                <a:lnTo>
                  <a:pt x="3056190" y="854946"/>
                </a:lnTo>
                <a:lnTo>
                  <a:pt x="0" y="85494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584448" y="3785316"/>
            <a:ext cx="2450592" cy="393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8"/>
              </a:lnSpc>
            </a:pPr>
            <a:r>
              <a:rPr lang="en-US" sz="2241" b="true">
                <a:solidFill>
                  <a:srgbClr val="3772B1"/>
                </a:solidFill>
                <a:latin typeface="Asap Bold"/>
                <a:ea typeface="Asap Bold"/>
                <a:cs typeface="Asap Bold"/>
                <a:sym typeface="Asap Bold"/>
              </a:rPr>
              <a:t>Tạo học kỳ và môn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3478749" y="4504747"/>
            <a:ext cx="2839996" cy="854947"/>
          </a:xfrm>
          <a:custGeom>
            <a:avLst/>
            <a:gdLst/>
            <a:ahLst/>
            <a:cxnLst/>
            <a:rect r="r" b="b" t="t" l="l"/>
            <a:pathLst>
              <a:path h="854947" w="2839996">
                <a:moveTo>
                  <a:pt x="0" y="0"/>
                </a:moveTo>
                <a:lnTo>
                  <a:pt x="2839996" y="0"/>
                </a:lnTo>
                <a:lnTo>
                  <a:pt x="2839996" y="854946"/>
                </a:lnTo>
                <a:lnTo>
                  <a:pt x="0" y="85494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822192" y="4802493"/>
            <a:ext cx="1975104" cy="29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0"/>
              </a:lnSpc>
            </a:pPr>
            <a:r>
              <a:rPr lang="en-US" sz="1707">
                <a:solidFill>
                  <a:srgbClr val="003C64"/>
                </a:solidFill>
                <a:latin typeface="Asap"/>
                <a:ea typeface="Asap"/>
                <a:cs typeface="Asap"/>
                <a:sym typeface="Asap"/>
              </a:rPr>
              <a:t>FacultyManagement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6308918" y="4504747"/>
            <a:ext cx="3056189" cy="854947"/>
          </a:xfrm>
          <a:custGeom>
            <a:avLst/>
            <a:gdLst/>
            <a:ahLst/>
            <a:cxnLst/>
            <a:rect r="r" b="b" t="t" l="l"/>
            <a:pathLst>
              <a:path h="854947" w="3056189">
                <a:moveTo>
                  <a:pt x="0" y="0"/>
                </a:moveTo>
                <a:lnTo>
                  <a:pt x="3056189" y="0"/>
                </a:lnTo>
                <a:lnTo>
                  <a:pt x="3056189" y="854946"/>
                </a:lnTo>
                <a:lnTo>
                  <a:pt x="0" y="85494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6821424" y="4802493"/>
            <a:ext cx="2048256" cy="29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0"/>
              </a:lnSpc>
            </a:pPr>
            <a:r>
              <a:rPr lang="en-US" sz="1707">
                <a:solidFill>
                  <a:srgbClr val="003C64"/>
                </a:solidFill>
                <a:latin typeface="Asap"/>
                <a:ea typeface="Asap"/>
                <a:cs typeface="Asap"/>
                <a:sym typeface="Asap"/>
              </a:rPr>
              <a:t>addScoreWithCredits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77856" y="3785316"/>
            <a:ext cx="1243584" cy="393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8"/>
              </a:lnSpc>
            </a:pPr>
            <a:r>
              <a:rPr lang="en-US" sz="2241" b="true">
                <a:solidFill>
                  <a:srgbClr val="3772B1"/>
                </a:solidFill>
                <a:latin typeface="Asap Bold"/>
                <a:ea typeface="Asap Bold"/>
                <a:cs typeface="Asap Bold"/>
                <a:sym typeface="Asap Bold"/>
              </a:rPr>
              <a:t>Tính GPA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9571473" y="4504747"/>
            <a:ext cx="2839996" cy="854947"/>
          </a:xfrm>
          <a:custGeom>
            <a:avLst/>
            <a:gdLst/>
            <a:ahLst/>
            <a:cxnLst/>
            <a:rect r="r" b="b" t="t" l="l"/>
            <a:pathLst>
              <a:path h="854947" w="2839996">
                <a:moveTo>
                  <a:pt x="0" y="0"/>
                </a:moveTo>
                <a:lnTo>
                  <a:pt x="2839996" y="0"/>
                </a:lnTo>
                <a:lnTo>
                  <a:pt x="2839996" y="854946"/>
                </a:lnTo>
                <a:lnTo>
                  <a:pt x="0" y="85494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241280" y="4802493"/>
            <a:ext cx="1316736" cy="29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0"/>
              </a:lnSpc>
            </a:pPr>
            <a:r>
              <a:rPr lang="en-US" sz="1707">
                <a:solidFill>
                  <a:srgbClr val="003C64"/>
                </a:solidFill>
                <a:latin typeface="Asap"/>
                <a:ea typeface="Asap"/>
                <a:cs typeface="Asap"/>
                <a:sym typeface="Asap"/>
              </a:rPr>
              <a:t>calculateGPA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331952" y="3785316"/>
            <a:ext cx="1207008" cy="393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8"/>
              </a:lnSpc>
            </a:pPr>
            <a:r>
              <a:rPr lang="en-US" sz="2241" b="true">
                <a:solidFill>
                  <a:srgbClr val="3772B1"/>
                </a:solidFill>
                <a:latin typeface="Asap Bold"/>
                <a:ea typeface="Asap Bold"/>
                <a:cs typeface="Asap Bold"/>
                <a:sym typeface="Asap Bold"/>
              </a:rPr>
              <a:t>Đánh giá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2401642" y="4504747"/>
            <a:ext cx="2839996" cy="854947"/>
          </a:xfrm>
          <a:custGeom>
            <a:avLst/>
            <a:gdLst/>
            <a:ahLst/>
            <a:cxnLst/>
            <a:rect r="r" b="b" t="t" l="l"/>
            <a:pathLst>
              <a:path h="854947" w="2839996">
                <a:moveTo>
                  <a:pt x="0" y="0"/>
                </a:moveTo>
                <a:lnTo>
                  <a:pt x="2839996" y="0"/>
                </a:lnTo>
                <a:lnTo>
                  <a:pt x="2839996" y="854946"/>
                </a:lnTo>
                <a:lnTo>
                  <a:pt x="0" y="85494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3167360" y="4802033"/>
            <a:ext cx="1554480" cy="299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9"/>
              </a:lnSpc>
            </a:pPr>
            <a:r>
              <a:rPr lang="en-US" sz="1670">
                <a:solidFill>
                  <a:srgbClr val="003C64"/>
                </a:solidFill>
                <a:latin typeface="Asap"/>
                <a:ea typeface="Asap"/>
                <a:cs typeface="Asap"/>
                <a:sym typeface="Asap"/>
              </a:rPr>
              <a:t>evaluateStudent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5448004" y="4504747"/>
            <a:ext cx="2839996" cy="854947"/>
          </a:xfrm>
          <a:custGeom>
            <a:avLst/>
            <a:gdLst/>
            <a:ahLst/>
            <a:cxnLst/>
            <a:rect r="r" b="b" t="t" l="l"/>
            <a:pathLst>
              <a:path h="854947" w="2839996">
                <a:moveTo>
                  <a:pt x="0" y="0"/>
                </a:moveTo>
                <a:lnTo>
                  <a:pt x="2839996" y="0"/>
                </a:lnTo>
                <a:lnTo>
                  <a:pt x="2839996" y="854946"/>
                </a:lnTo>
                <a:lnTo>
                  <a:pt x="0" y="85494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5965424" y="4802493"/>
            <a:ext cx="1993392" cy="29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0"/>
              </a:lnSpc>
            </a:pPr>
            <a:r>
              <a:rPr lang="en-US" sz="1707">
                <a:solidFill>
                  <a:srgbClr val="003C64"/>
                </a:solidFill>
                <a:latin typeface="Asap"/>
                <a:ea typeface="Asap"/>
                <a:cs typeface="Asap"/>
                <a:sym typeface="Asap"/>
              </a:rPr>
              <a:t>getStudent / getGPA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648580" y="6411180"/>
            <a:ext cx="16990839" cy="2122627"/>
          </a:xfrm>
          <a:custGeom>
            <a:avLst/>
            <a:gdLst/>
            <a:ahLst/>
            <a:cxnLst/>
            <a:rect r="r" b="b" t="t" l="l"/>
            <a:pathLst>
              <a:path h="2122627" w="16990839">
                <a:moveTo>
                  <a:pt x="0" y="0"/>
                </a:moveTo>
                <a:lnTo>
                  <a:pt x="16990840" y="0"/>
                </a:lnTo>
                <a:lnTo>
                  <a:pt x="16990840" y="2122626"/>
                </a:lnTo>
                <a:lnTo>
                  <a:pt x="0" y="212262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298448" y="6866003"/>
            <a:ext cx="2633472" cy="46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7"/>
              </a:lnSpc>
            </a:pPr>
            <a:r>
              <a:rPr lang="en-US" sz="2684" b="true">
                <a:solidFill>
                  <a:srgbClr val="0055E9"/>
                </a:solidFill>
                <a:latin typeface="Asap Bold"/>
                <a:ea typeface="Asap Bold"/>
                <a:cs typeface="Asap Bold"/>
                <a:sym typeface="Asap Bold"/>
              </a:rPr>
              <a:t>Điều kiện tuần tự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700016" y="6828985"/>
            <a:ext cx="12472416" cy="662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sz="2268">
                <a:solidFill>
                  <a:srgbClr val="003C64"/>
                </a:solidFill>
                <a:latin typeface="Asap"/>
                <a:ea typeface="Asap"/>
                <a:cs typeface="Asap"/>
                <a:sym typeface="Asap"/>
              </a:rPr>
              <a:t>evaluateStudent yêu cầu học kỳ mới lớn hơn học kỳ đã đánh giá gần nhất, có ít nhất một môn và chưa từng được đánh giá.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700016" y="7718281"/>
            <a:ext cx="8211312" cy="33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043" b="true">
                <a:solidFill>
                  <a:srgbClr val="FF4C4C"/>
                </a:solidFill>
                <a:latin typeface="Asap Bold"/>
                <a:ea typeface="Asap Bold"/>
                <a:cs typeface="Asap Bold"/>
                <a:sym typeface="Asap Bold"/>
              </a:rPr>
              <a:t>Sau đánh giá, hợp đồng khóa việc nhập thêm điểm cho học kỳ đó.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36192" y="2617413"/>
            <a:ext cx="128016" cy="33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sz="2043" b="true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1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751808" y="2617413"/>
            <a:ext cx="164592" cy="339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sz="2043" b="true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6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25296" y="4802493"/>
            <a:ext cx="1115568" cy="29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0"/>
              </a:lnSpc>
            </a:pPr>
            <a:r>
              <a:rPr lang="en-US" sz="1707">
                <a:solidFill>
                  <a:srgbClr val="003C64"/>
                </a:solidFill>
                <a:latin typeface="Asap"/>
                <a:ea typeface="Asap"/>
                <a:cs typeface="Asap"/>
                <a:sym typeface="Asap"/>
              </a:rPr>
              <a:t>addStudent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150608" y="3785316"/>
            <a:ext cx="1408176" cy="393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8"/>
              </a:lnSpc>
            </a:pPr>
            <a:r>
              <a:rPr lang="en-US" sz="2241" b="true">
                <a:solidFill>
                  <a:srgbClr val="3772B1"/>
                </a:solidFill>
                <a:latin typeface="Asap Bold"/>
                <a:ea typeface="Asap Bold"/>
                <a:cs typeface="Asap Bold"/>
                <a:sym typeface="Asap Bold"/>
              </a:rPr>
              <a:t>Nhập điểm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947136" y="3785316"/>
            <a:ext cx="2048256" cy="393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8"/>
              </a:lnSpc>
            </a:pPr>
            <a:r>
              <a:rPr lang="en-US" sz="2241" b="true">
                <a:solidFill>
                  <a:srgbClr val="3772B1"/>
                </a:solidFill>
                <a:latin typeface="Asap Bold"/>
                <a:ea typeface="Asap Bold"/>
                <a:cs typeface="Asap Bold"/>
                <a:sym typeface="Asap Bold"/>
              </a:rPr>
              <a:t>Tra cứu kết quả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10896" y="9886481"/>
            <a:ext cx="2450592" cy="23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8"/>
              </a:lnSpc>
            </a:pPr>
            <a:r>
              <a:rPr lang="en-US" sz="1320">
                <a:solidFill>
                  <a:srgbClr val="3772B1"/>
                </a:solidFill>
                <a:latin typeface="Asap"/>
                <a:ea typeface="Asap"/>
                <a:cs typeface="Asap"/>
                <a:sym typeface="Asap"/>
              </a:rPr>
              <a:t>BLOCKCHAIN • SOLIDITY • REMIX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7775936" y="9832342"/>
            <a:ext cx="201168" cy="24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04"/>
              </a:lnSpc>
            </a:pPr>
            <a:r>
              <a:rPr lang="en-US" sz="1431" b="true">
                <a:solidFill>
                  <a:srgbClr val="003C64"/>
                </a:solidFill>
                <a:latin typeface="Asap Bold"/>
                <a:ea typeface="Asap Bold"/>
                <a:cs typeface="Asap Bold"/>
                <a:sym typeface="Asap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2412" y="262560"/>
            <a:ext cx="7953914" cy="51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7"/>
              </a:lnSpc>
            </a:pPr>
            <a:r>
              <a:rPr lang="en-US" sz="3907" b="true">
                <a:solidFill>
                  <a:srgbClr val="394B67"/>
                </a:solidFill>
                <a:latin typeface="Asap Bold"/>
                <a:ea typeface="Asap Bold"/>
                <a:cs typeface="Asap Bold"/>
                <a:sym typeface="Asap Bold"/>
              </a:rPr>
              <a:t>Triển khai và chạy thử trên Remix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10029" y="865121"/>
            <a:ext cx="1320242" cy="436772"/>
          </a:xfrm>
          <a:custGeom>
            <a:avLst/>
            <a:gdLst/>
            <a:ahLst/>
            <a:cxnLst/>
            <a:rect r="r" b="b" t="t" l="l"/>
            <a:pathLst>
              <a:path h="436772" w="1320242">
                <a:moveTo>
                  <a:pt x="0" y="0"/>
                </a:moveTo>
                <a:lnTo>
                  <a:pt x="1320242" y="0"/>
                </a:lnTo>
                <a:lnTo>
                  <a:pt x="1320242" y="436771"/>
                </a:lnTo>
                <a:lnTo>
                  <a:pt x="0" y="4367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0347" y="1005177"/>
            <a:ext cx="6976038" cy="34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2536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Thứ tự deploy quyết định việc liên kết hợp đồng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8415" y="1718811"/>
            <a:ext cx="1101856" cy="863617"/>
          </a:xfrm>
          <a:custGeom>
            <a:avLst/>
            <a:gdLst/>
            <a:ahLst/>
            <a:cxnLst/>
            <a:rect r="r" b="b" t="t" l="l"/>
            <a:pathLst>
              <a:path h="863617" w="1101856">
                <a:moveTo>
                  <a:pt x="0" y="0"/>
                </a:moveTo>
                <a:lnTo>
                  <a:pt x="1101856" y="0"/>
                </a:lnTo>
                <a:lnTo>
                  <a:pt x="1101856" y="863617"/>
                </a:lnTo>
                <a:lnTo>
                  <a:pt x="0" y="863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79243" y="1953011"/>
            <a:ext cx="182849" cy="42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2"/>
              </a:lnSpc>
            </a:pPr>
            <a:r>
              <a:rPr lang="en-US" sz="2487" b="true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0347" y="1952810"/>
            <a:ext cx="2047904" cy="42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0"/>
              </a:lnSpc>
            </a:pPr>
            <a:r>
              <a:rPr lang="en-US" sz="2471" b="true">
                <a:solidFill>
                  <a:srgbClr val="394B67"/>
                </a:solidFill>
                <a:latin typeface="Asap Bold"/>
                <a:ea typeface="Asap Bold"/>
                <a:cs typeface="Asap Bold"/>
                <a:sym typeface="Asap Bold"/>
              </a:rPr>
              <a:t>Tạo 4 file .sol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28415" y="3217733"/>
            <a:ext cx="1101856" cy="863617"/>
          </a:xfrm>
          <a:custGeom>
            <a:avLst/>
            <a:gdLst/>
            <a:ahLst/>
            <a:cxnLst/>
            <a:rect r="r" b="b" t="t" l="l"/>
            <a:pathLst>
              <a:path h="863617" w="1101856">
                <a:moveTo>
                  <a:pt x="0" y="0"/>
                </a:moveTo>
                <a:lnTo>
                  <a:pt x="1101856" y="0"/>
                </a:lnTo>
                <a:lnTo>
                  <a:pt x="1101856" y="863617"/>
                </a:lnTo>
                <a:lnTo>
                  <a:pt x="0" y="8636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79243" y="3400255"/>
            <a:ext cx="182849" cy="42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2"/>
              </a:lnSpc>
            </a:pPr>
            <a:r>
              <a:rPr lang="en-US" sz="2487" b="true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0347" y="3400053"/>
            <a:ext cx="2267323" cy="42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0"/>
              </a:lnSpc>
            </a:pPr>
            <a:r>
              <a:rPr lang="en-US" sz="2471" b="true">
                <a:solidFill>
                  <a:srgbClr val="394B67"/>
                </a:solidFill>
                <a:latin typeface="Asap Bold"/>
                <a:ea typeface="Asap Bold"/>
                <a:cs typeface="Asap Bold"/>
                <a:sym typeface="Asap Bold"/>
              </a:rPr>
              <a:t>Compile 0.8.20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28415" y="4706728"/>
            <a:ext cx="1101856" cy="873544"/>
          </a:xfrm>
          <a:custGeom>
            <a:avLst/>
            <a:gdLst/>
            <a:ahLst/>
            <a:cxnLst/>
            <a:rect r="r" b="b" t="t" l="l"/>
            <a:pathLst>
              <a:path h="873544" w="1101856">
                <a:moveTo>
                  <a:pt x="0" y="0"/>
                </a:moveTo>
                <a:lnTo>
                  <a:pt x="1101856" y="0"/>
                </a:lnTo>
                <a:lnTo>
                  <a:pt x="1101856" y="873544"/>
                </a:lnTo>
                <a:lnTo>
                  <a:pt x="0" y="8735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79243" y="4868027"/>
            <a:ext cx="182849" cy="42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2"/>
              </a:lnSpc>
            </a:pPr>
            <a:r>
              <a:rPr lang="en-US" sz="2487" b="true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0347" y="4867825"/>
            <a:ext cx="4351797" cy="42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0"/>
              </a:lnSpc>
            </a:pPr>
            <a:r>
              <a:rPr lang="en-US" sz="2471" b="true">
                <a:solidFill>
                  <a:srgbClr val="394B67"/>
                </a:solidFill>
                <a:latin typeface="Asap Bold"/>
                <a:ea typeface="Asap Bold"/>
                <a:cs typeface="Asap Bold"/>
                <a:sym typeface="Asap Bold"/>
              </a:rPr>
              <a:t>Deploy StudentManagement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28415" y="5997191"/>
            <a:ext cx="1101856" cy="1072077"/>
          </a:xfrm>
          <a:custGeom>
            <a:avLst/>
            <a:gdLst/>
            <a:ahLst/>
            <a:cxnLst/>
            <a:rect r="r" b="b" t="t" l="l"/>
            <a:pathLst>
              <a:path h="1072077" w="1101856">
                <a:moveTo>
                  <a:pt x="0" y="0"/>
                </a:moveTo>
                <a:lnTo>
                  <a:pt x="1101856" y="0"/>
                </a:lnTo>
                <a:lnTo>
                  <a:pt x="1101856" y="1072076"/>
                </a:lnTo>
                <a:lnTo>
                  <a:pt x="0" y="10720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79243" y="6335799"/>
            <a:ext cx="182849" cy="42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2"/>
              </a:lnSpc>
            </a:pPr>
            <a:r>
              <a:rPr lang="en-US" sz="2487" b="true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0347" y="6335597"/>
            <a:ext cx="4296942" cy="42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0"/>
              </a:lnSpc>
            </a:pPr>
            <a:r>
              <a:rPr lang="en-US" sz="2471" b="true">
                <a:solidFill>
                  <a:srgbClr val="394B67"/>
                </a:solidFill>
                <a:latin typeface="Asap Bold"/>
                <a:ea typeface="Asap Bold"/>
                <a:cs typeface="Asap Bold"/>
                <a:sym typeface="Asap Bold"/>
              </a:rPr>
              <a:t>Deploy FacultyManagement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428415" y="7486186"/>
            <a:ext cx="1101856" cy="873544"/>
          </a:xfrm>
          <a:custGeom>
            <a:avLst/>
            <a:gdLst/>
            <a:ahLst/>
            <a:cxnLst/>
            <a:rect r="r" b="b" t="t" l="l"/>
            <a:pathLst>
              <a:path h="873544" w="1101856">
                <a:moveTo>
                  <a:pt x="0" y="0"/>
                </a:moveTo>
                <a:lnTo>
                  <a:pt x="1101856" y="0"/>
                </a:lnTo>
                <a:lnTo>
                  <a:pt x="1101856" y="873544"/>
                </a:lnTo>
                <a:lnTo>
                  <a:pt x="0" y="8735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79243" y="7783043"/>
            <a:ext cx="182849" cy="42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2"/>
              </a:lnSpc>
            </a:pPr>
            <a:r>
              <a:rPr lang="en-US" sz="2487" b="true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20347" y="7782841"/>
            <a:ext cx="3474124" cy="42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0"/>
              </a:lnSpc>
            </a:pPr>
            <a:r>
              <a:rPr lang="en-US" sz="2471" b="true">
                <a:solidFill>
                  <a:srgbClr val="394B67"/>
                </a:solidFill>
                <a:latin typeface="Asap Bold"/>
                <a:ea typeface="Asap Bold"/>
                <a:cs typeface="Asap Bold"/>
                <a:sym typeface="Asap Bold"/>
              </a:rPr>
              <a:t>Gọi hàm theo kịch bản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7615298" y="1500425"/>
            <a:ext cx="6104880" cy="1300389"/>
          </a:xfrm>
          <a:custGeom>
            <a:avLst/>
            <a:gdLst/>
            <a:ahLst/>
            <a:cxnLst/>
            <a:rect r="r" b="b" t="t" l="l"/>
            <a:pathLst>
              <a:path h="1300389" w="6104880">
                <a:moveTo>
                  <a:pt x="0" y="0"/>
                </a:moveTo>
                <a:lnTo>
                  <a:pt x="6104880" y="0"/>
                </a:lnTo>
                <a:lnTo>
                  <a:pt x="6104880" y="1300389"/>
                </a:lnTo>
                <a:lnTo>
                  <a:pt x="0" y="13003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028624" y="1962850"/>
            <a:ext cx="2889008" cy="370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1"/>
              </a:lnSpc>
            </a:pPr>
            <a:r>
              <a:rPr lang="en-US" sz="2129">
                <a:solidFill>
                  <a:srgbClr val="394B67"/>
                </a:solidFill>
                <a:latin typeface="Asap"/>
                <a:ea typeface="Asap"/>
                <a:cs typeface="Asap"/>
                <a:sym typeface="Asap"/>
              </a:rPr>
              <a:t>Đặt đúng tên file import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7615298" y="2999347"/>
            <a:ext cx="6104880" cy="1290462"/>
          </a:xfrm>
          <a:custGeom>
            <a:avLst/>
            <a:gdLst/>
            <a:ahLst/>
            <a:cxnLst/>
            <a:rect r="r" b="b" t="t" l="l"/>
            <a:pathLst>
              <a:path h="1290462" w="6104880">
                <a:moveTo>
                  <a:pt x="0" y="0"/>
                </a:moveTo>
                <a:lnTo>
                  <a:pt x="6104880" y="0"/>
                </a:lnTo>
                <a:lnTo>
                  <a:pt x="6104880" y="1290462"/>
                </a:lnTo>
                <a:lnTo>
                  <a:pt x="0" y="12904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028624" y="3412536"/>
            <a:ext cx="4095809" cy="39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2"/>
              </a:lnSpc>
            </a:pPr>
            <a:r>
              <a:rPr lang="en-US" sz="2237">
                <a:solidFill>
                  <a:srgbClr val="394B67"/>
                </a:solidFill>
                <a:latin typeface="Asap"/>
                <a:ea typeface="Asap"/>
                <a:cs typeface="Asap"/>
                <a:sym typeface="Asap"/>
              </a:rPr>
              <a:t>Chọn StudentManagement trước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7615298" y="4498269"/>
            <a:ext cx="6104880" cy="1290462"/>
          </a:xfrm>
          <a:custGeom>
            <a:avLst/>
            <a:gdLst/>
            <a:ahLst/>
            <a:cxnLst/>
            <a:rect r="r" b="b" t="t" l="l"/>
            <a:pathLst>
              <a:path h="1290462" w="6104880">
                <a:moveTo>
                  <a:pt x="0" y="0"/>
                </a:moveTo>
                <a:lnTo>
                  <a:pt x="6104880" y="0"/>
                </a:lnTo>
                <a:lnTo>
                  <a:pt x="6104880" y="1290462"/>
                </a:lnTo>
                <a:lnTo>
                  <a:pt x="0" y="12904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8028624" y="4894455"/>
            <a:ext cx="3126711" cy="37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4"/>
              </a:lnSpc>
            </a:pPr>
            <a:r>
              <a:rPr lang="en-US" sz="2210">
                <a:solidFill>
                  <a:srgbClr val="394B67"/>
                </a:solidFill>
                <a:latin typeface="Asap"/>
                <a:ea typeface="Asap"/>
                <a:cs typeface="Asap"/>
                <a:sym typeface="Asap"/>
              </a:rPr>
              <a:t>Sao chép địa chỉ contract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7615298" y="5997191"/>
            <a:ext cx="6104880" cy="1290462"/>
          </a:xfrm>
          <a:custGeom>
            <a:avLst/>
            <a:gdLst/>
            <a:ahLst/>
            <a:cxnLst/>
            <a:rect r="r" b="b" t="t" l="l"/>
            <a:pathLst>
              <a:path h="1290462" w="6104880">
                <a:moveTo>
                  <a:pt x="0" y="0"/>
                </a:moveTo>
                <a:lnTo>
                  <a:pt x="6104880" y="0"/>
                </a:lnTo>
                <a:lnTo>
                  <a:pt x="6104880" y="1290462"/>
                </a:lnTo>
                <a:lnTo>
                  <a:pt x="0" y="129046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8028624" y="6361886"/>
            <a:ext cx="3364414" cy="379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7"/>
              </a:lnSpc>
            </a:pPr>
            <a:r>
              <a:rPr lang="en-US" sz="2183">
                <a:solidFill>
                  <a:srgbClr val="394B67"/>
                </a:solidFill>
                <a:latin typeface="Asap"/>
                <a:ea typeface="Asap"/>
                <a:cs typeface="Asap"/>
                <a:sym typeface="Asap"/>
              </a:rPr>
              <a:t>Dán địa chỉ vào constructor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7615298" y="7277726"/>
            <a:ext cx="6104880" cy="1290462"/>
          </a:xfrm>
          <a:custGeom>
            <a:avLst/>
            <a:gdLst/>
            <a:ahLst/>
            <a:cxnLst/>
            <a:rect r="r" b="b" t="t" l="l"/>
            <a:pathLst>
              <a:path h="1290462" w="6104880">
                <a:moveTo>
                  <a:pt x="0" y="0"/>
                </a:moveTo>
                <a:lnTo>
                  <a:pt x="6104880" y="0"/>
                </a:lnTo>
                <a:lnTo>
                  <a:pt x="6104880" y="1290463"/>
                </a:lnTo>
                <a:lnTo>
                  <a:pt x="0" y="129046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928638" y="1718811"/>
            <a:ext cx="3930947" cy="1935694"/>
          </a:xfrm>
          <a:custGeom>
            <a:avLst/>
            <a:gdLst/>
            <a:ahLst/>
            <a:cxnLst/>
            <a:rect r="r" b="b" t="t" l="l"/>
            <a:pathLst>
              <a:path h="1935694" w="3930947">
                <a:moveTo>
                  <a:pt x="0" y="0"/>
                </a:moveTo>
                <a:lnTo>
                  <a:pt x="3930947" y="0"/>
                </a:lnTo>
                <a:lnTo>
                  <a:pt x="3930947" y="1935694"/>
                </a:lnTo>
                <a:lnTo>
                  <a:pt x="0" y="193569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4794022" y="2149649"/>
            <a:ext cx="2194183" cy="387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9"/>
              </a:lnSpc>
            </a:pPr>
            <a:r>
              <a:rPr lang="en-US" sz="2264" b="true">
                <a:solidFill>
                  <a:srgbClr val="603C08"/>
                </a:solidFill>
                <a:latin typeface="Asap Bold"/>
                <a:ea typeface="Asap Bold"/>
                <a:cs typeface="Asap Bold"/>
                <a:sym typeface="Asap Bold"/>
              </a:rPr>
              <a:t>Môi trường demo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940301" y="2710422"/>
            <a:ext cx="1883341" cy="57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7"/>
              </a:lnSpc>
            </a:pPr>
            <a:r>
              <a:rPr lang="en-US" sz="1947">
                <a:solidFill>
                  <a:srgbClr val="603C08"/>
                </a:solidFill>
                <a:latin typeface="Asap"/>
                <a:ea typeface="Asap"/>
                <a:cs typeface="Asap"/>
                <a:sym typeface="Asap"/>
              </a:rPr>
              <a:t> Remix VM</a:t>
            </a:r>
          </a:p>
          <a:p>
            <a:pPr algn="ctr">
              <a:lnSpc>
                <a:spcPts val="2337"/>
              </a:lnSpc>
            </a:pPr>
            <a:r>
              <a:rPr lang="en-US" sz="1947">
                <a:solidFill>
                  <a:srgbClr val="603C08"/>
                </a:solidFill>
                <a:latin typeface="Asap"/>
                <a:ea typeface="Asap"/>
                <a:cs typeface="Asap"/>
                <a:sym typeface="Asap"/>
              </a:rPr>
              <a:t>không cần ví thật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028624" y="7813752"/>
            <a:ext cx="3437554" cy="37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9"/>
              </a:lnSpc>
            </a:pPr>
            <a:r>
              <a:rPr lang="en-US" sz="2156">
                <a:solidFill>
                  <a:srgbClr val="394B67"/>
                </a:solidFill>
                <a:latin typeface="Asap"/>
                <a:ea typeface="Asap"/>
                <a:cs typeface="Asap"/>
                <a:sym typeface="Asap"/>
              </a:rPr>
              <a:t>Kiểm tra output và giao dịch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12412" y="9934968"/>
            <a:ext cx="2468456" cy="232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7"/>
              </a:lnSpc>
            </a:pPr>
            <a:r>
              <a:rPr lang="en-US" sz="1333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BLOCKCHAIN • SOLIDITY • REMIX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7902448" y="9870003"/>
            <a:ext cx="310843" cy="30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14"/>
              </a:lnSpc>
            </a:pPr>
            <a:r>
              <a:rPr lang="en-US" b="true" sz="1724">
                <a:solidFill>
                  <a:srgbClr val="3776FF"/>
                </a:solidFill>
                <a:latin typeface="Asap Bold"/>
                <a:ea typeface="Asap Bold"/>
                <a:cs typeface="Asap Bold"/>
                <a:sym typeface="Asap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4127" y="234231"/>
            <a:ext cx="6143713" cy="578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1"/>
              </a:lnSpc>
            </a:pPr>
            <a:r>
              <a:rPr lang="en-US" sz="4037" b="true">
                <a:solidFill>
                  <a:srgbClr val="17264D"/>
                </a:solidFill>
                <a:latin typeface="Asap Bold"/>
                <a:ea typeface="Asap Bold"/>
                <a:cs typeface="Asap Bold"/>
                <a:sym typeface="Asap Bold"/>
              </a:rPr>
              <a:t>Kịch bản demo hai học kỳ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10029" y="865121"/>
            <a:ext cx="1320242" cy="436772"/>
          </a:xfrm>
          <a:custGeom>
            <a:avLst/>
            <a:gdLst/>
            <a:ahLst/>
            <a:cxnLst/>
            <a:rect r="r" b="b" t="t" l="l"/>
            <a:pathLst>
              <a:path h="436772" w="1320242">
                <a:moveTo>
                  <a:pt x="0" y="0"/>
                </a:moveTo>
                <a:lnTo>
                  <a:pt x="1320242" y="0"/>
                </a:lnTo>
                <a:lnTo>
                  <a:pt x="1320242" y="436771"/>
                </a:lnTo>
                <a:lnTo>
                  <a:pt x="0" y="4367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83777" y="1027575"/>
            <a:ext cx="938013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9"/>
              </a:lnSpc>
            </a:pPr>
            <a:r>
              <a:rPr lang="en-US" sz="2524" b="true">
                <a:solidFill>
                  <a:srgbClr val="17264D"/>
                </a:solidFill>
                <a:latin typeface="Asap Bold"/>
                <a:ea typeface="Asap Bold"/>
                <a:cs typeface="Asap Bold"/>
                <a:sym typeface="Asap Bold"/>
              </a:rPr>
              <a:t>Một sinh viên không đạt hai kỳ liên tiếp sẽ chuyển sang Thôi học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5552" y="1767943"/>
            <a:ext cx="1170231" cy="347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264" b="true">
                <a:solidFill>
                  <a:srgbClr val="17264D"/>
                </a:solidFill>
                <a:latin typeface="Asap Bold"/>
                <a:ea typeface="Asap Bold"/>
                <a:cs typeface="Asap Bold"/>
                <a:sym typeface="Asap Bold"/>
              </a:rPr>
              <a:t>Sinh viên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72293" y="1769124"/>
            <a:ext cx="5869440" cy="416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3"/>
              </a:lnSpc>
            </a:pPr>
            <a:r>
              <a:rPr lang="en-US" sz="2711" b="true">
                <a:solidFill>
                  <a:srgbClr val="17264D"/>
                </a:solidFill>
                <a:latin typeface="Asap Bold"/>
                <a:ea typeface="Asap Bold"/>
                <a:cs typeface="Asap Bold"/>
                <a:sym typeface="Asap Bold"/>
              </a:rPr>
              <a:t>ID 1 • Nguyễn Văn A • CNTT • 20 tuổi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10029" y="2790888"/>
            <a:ext cx="446699" cy="4705225"/>
          </a:xfrm>
          <a:custGeom>
            <a:avLst/>
            <a:gdLst/>
            <a:ahLst/>
            <a:cxnLst/>
            <a:rect r="r" b="b" t="t" l="l"/>
            <a:pathLst>
              <a:path h="4705225" w="446699">
                <a:moveTo>
                  <a:pt x="0" y="0"/>
                </a:moveTo>
                <a:lnTo>
                  <a:pt x="446699" y="0"/>
                </a:lnTo>
                <a:lnTo>
                  <a:pt x="446699" y="4705224"/>
                </a:lnTo>
                <a:lnTo>
                  <a:pt x="0" y="47052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96394" y="3139069"/>
            <a:ext cx="1462789" cy="425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6"/>
              </a:lnSpc>
            </a:pPr>
            <a:r>
              <a:rPr lang="en-US" sz="2933" b="true">
                <a:solidFill>
                  <a:srgbClr val="17264D"/>
                </a:solidFill>
                <a:latin typeface="Asap Bold"/>
                <a:ea typeface="Asap Bold"/>
                <a:cs typeface="Asap Bold"/>
                <a:sym typeface="Asap Bold"/>
              </a:rPr>
              <a:t>Học kỳ 1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007617" y="2790888"/>
            <a:ext cx="228313" cy="4705225"/>
          </a:xfrm>
          <a:custGeom>
            <a:avLst/>
            <a:gdLst/>
            <a:ahLst/>
            <a:cxnLst/>
            <a:rect r="r" b="b" t="t" l="l"/>
            <a:pathLst>
              <a:path h="4705225" w="228313">
                <a:moveTo>
                  <a:pt x="0" y="0"/>
                </a:moveTo>
                <a:lnTo>
                  <a:pt x="228313" y="0"/>
                </a:lnTo>
                <a:lnTo>
                  <a:pt x="228313" y="4705224"/>
                </a:lnTo>
                <a:lnTo>
                  <a:pt x="0" y="47052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332516" y="3139069"/>
            <a:ext cx="1462789" cy="425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6"/>
              </a:lnSpc>
            </a:pPr>
            <a:r>
              <a:rPr lang="en-US" sz="2933" b="true">
                <a:solidFill>
                  <a:srgbClr val="17264D"/>
                </a:solidFill>
                <a:latin typeface="Asap Bold"/>
                <a:ea typeface="Asap Bold"/>
                <a:cs typeface="Asap Bold"/>
                <a:sym typeface="Asap Bold"/>
              </a:rPr>
              <a:t>Học kỳ 2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049046" y="7922958"/>
            <a:ext cx="12408293" cy="1290462"/>
          </a:xfrm>
          <a:custGeom>
            <a:avLst/>
            <a:gdLst/>
            <a:ahLst/>
            <a:cxnLst/>
            <a:rect r="r" b="b" t="t" l="l"/>
            <a:pathLst>
              <a:path h="1290462" w="12408293">
                <a:moveTo>
                  <a:pt x="0" y="0"/>
                </a:moveTo>
                <a:lnTo>
                  <a:pt x="12408293" y="0"/>
                </a:lnTo>
                <a:lnTo>
                  <a:pt x="12408293" y="1290462"/>
                </a:lnTo>
                <a:lnTo>
                  <a:pt x="0" y="12904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541882" y="8379230"/>
            <a:ext cx="7368799" cy="416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3"/>
              </a:lnSpc>
            </a:pPr>
            <a:r>
              <a:rPr lang="en-US" sz="2711" b="true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consecutiveFails tăng từ 0 lên 1, sau đó lên 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6394" y="3791254"/>
            <a:ext cx="3181566" cy="1965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8"/>
              </a:lnSpc>
            </a:pPr>
            <a:r>
              <a:rPr lang="en-US" sz="2156">
                <a:solidFill>
                  <a:srgbClr val="17264D"/>
                </a:solidFill>
                <a:latin typeface="Asap"/>
                <a:ea typeface="Asap"/>
                <a:cs typeface="Asap"/>
                <a:sym typeface="Asap"/>
              </a:rPr>
              <a:t>Toán: 4,00 × 3 tín chỉ</a:t>
            </a:r>
          </a:p>
          <a:p>
            <a:pPr algn="l">
              <a:lnSpc>
                <a:spcPts val="2588"/>
              </a:lnSpc>
            </a:pPr>
            <a:r>
              <a:rPr lang="en-US" sz="2156">
                <a:solidFill>
                  <a:srgbClr val="17264D"/>
                </a:solidFill>
                <a:latin typeface="Asap"/>
                <a:ea typeface="Asap"/>
                <a:cs typeface="Asap"/>
                <a:sym typeface="Asap"/>
              </a:rPr>
              <a:t>Lập trình: 6,00 × 2 tín chỉ</a:t>
            </a:r>
          </a:p>
          <a:p>
            <a:pPr algn="l">
              <a:lnSpc>
                <a:spcPts val="2588"/>
              </a:lnSpc>
            </a:pPr>
          </a:p>
          <a:p>
            <a:pPr algn="l">
              <a:lnSpc>
                <a:spcPts val="2588"/>
              </a:lnSpc>
            </a:pPr>
            <a:r>
              <a:rPr lang="en-US" sz="2156">
                <a:solidFill>
                  <a:srgbClr val="17264D"/>
                </a:solidFill>
                <a:latin typeface="Asap"/>
                <a:ea typeface="Asap"/>
                <a:cs typeface="Asap"/>
                <a:sym typeface="Asap"/>
              </a:rPr>
              <a:t>GPA = 480 = 4,80</a:t>
            </a:r>
          </a:p>
          <a:p>
            <a:pPr algn="l">
              <a:lnSpc>
                <a:spcPts val="2588"/>
              </a:lnSpc>
            </a:pPr>
          </a:p>
          <a:p>
            <a:pPr algn="l">
              <a:lnSpc>
                <a:spcPts val="2588"/>
              </a:lnSpc>
            </a:pPr>
            <a:r>
              <a:rPr lang="en-US" sz="2156">
                <a:solidFill>
                  <a:srgbClr val="17264D"/>
                </a:solidFill>
                <a:latin typeface="Asap"/>
                <a:ea typeface="Asap"/>
                <a:cs typeface="Asap"/>
                <a:sym typeface="Asap"/>
              </a:rPr>
              <a:t>Kết quả: Cảnh báo học tập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32516" y="3722169"/>
            <a:ext cx="3839821" cy="2094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2318">
                <a:solidFill>
                  <a:srgbClr val="17264D"/>
                </a:solidFill>
                <a:latin typeface="Asap"/>
                <a:ea typeface="Asap"/>
                <a:cs typeface="Asap"/>
                <a:sym typeface="Asap"/>
              </a:rPr>
              <a:t>Cơ sở dữ liệu: 3,00 × 3 tín chỉ</a:t>
            </a:r>
          </a:p>
          <a:p>
            <a:pPr algn="l">
              <a:lnSpc>
                <a:spcPts val="2781"/>
              </a:lnSpc>
            </a:pPr>
            <a:r>
              <a:rPr lang="en-US" sz="2318">
                <a:solidFill>
                  <a:srgbClr val="17264D"/>
                </a:solidFill>
                <a:latin typeface="Asap"/>
                <a:ea typeface="Asap"/>
                <a:cs typeface="Asap"/>
                <a:sym typeface="Asap"/>
              </a:rPr>
              <a:t>Blockchain: 4,00 × 3 tín chỉ</a:t>
            </a:r>
          </a:p>
          <a:p>
            <a:pPr algn="l">
              <a:lnSpc>
                <a:spcPts val="2781"/>
              </a:lnSpc>
            </a:pPr>
          </a:p>
          <a:p>
            <a:pPr algn="l">
              <a:lnSpc>
                <a:spcPts val="2781"/>
              </a:lnSpc>
            </a:pPr>
            <a:r>
              <a:rPr lang="en-US" sz="2318">
                <a:solidFill>
                  <a:srgbClr val="17264D"/>
                </a:solidFill>
                <a:latin typeface="Asap"/>
                <a:ea typeface="Asap"/>
                <a:cs typeface="Asap"/>
                <a:sym typeface="Asap"/>
              </a:rPr>
              <a:t>GPA = 350 = 3,50</a:t>
            </a:r>
          </a:p>
          <a:p>
            <a:pPr algn="l">
              <a:lnSpc>
                <a:spcPts val="2781"/>
              </a:lnSpc>
            </a:pPr>
          </a:p>
          <a:p>
            <a:pPr algn="l">
              <a:lnSpc>
                <a:spcPts val="2781"/>
              </a:lnSpc>
            </a:pPr>
            <a:r>
              <a:rPr lang="en-US" sz="2318">
                <a:solidFill>
                  <a:srgbClr val="17264D"/>
                </a:solidFill>
                <a:latin typeface="Asap"/>
                <a:ea typeface="Asap"/>
                <a:cs typeface="Asap"/>
                <a:sym typeface="Asap"/>
              </a:rPr>
              <a:t>Kết quả: Thôi học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4127" y="9973397"/>
            <a:ext cx="2486741" cy="20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6"/>
              </a:lnSpc>
            </a:pPr>
            <a:r>
              <a:rPr lang="en-US" sz="1211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BLOCKCHAIN • SOLIDITY • REMIX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902448" y="9973397"/>
            <a:ext cx="219418" cy="20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96"/>
              </a:lnSpc>
            </a:pPr>
            <a:r>
              <a:rPr lang="en-US" b="true" sz="1211">
                <a:solidFill>
                  <a:srgbClr val="0050F5"/>
                </a:solidFill>
                <a:latin typeface="Asap Bold"/>
                <a:ea typeface="Asap Bold"/>
                <a:cs typeface="Asap Bold"/>
                <a:sym typeface="Asap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4090" y="261610"/>
            <a:ext cx="5711229" cy="51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911" b="true">
                <a:solidFill>
                  <a:srgbClr val="1E3644"/>
                </a:solidFill>
                <a:latin typeface="Asap Bold"/>
                <a:ea typeface="Asap Bold"/>
                <a:cs typeface="Asap Bold"/>
                <a:sym typeface="Asap Bold"/>
              </a:rPr>
              <a:t>Các lớp kiểm tra dữ liệu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89898" y="854641"/>
            <a:ext cx="1321713" cy="437258"/>
          </a:xfrm>
          <a:custGeom>
            <a:avLst/>
            <a:gdLst/>
            <a:ahLst/>
            <a:cxnLst/>
            <a:rect r="r" b="b" t="t" l="l"/>
            <a:pathLst>
              <a:path h="437258" w="1321713">
                <a:moveTo>
                  <a:pt x="0" y="0"/>
                </a:moveTo>
                <a:lnTo>
                  <a:pt x="1321712" y="0"/>
                </a:lnTo>
                <a:lnTo>
                  <a:pt x="1321712" y="437259"/>
                </a:lnTo>
                <a:lnTo>
                  <a:pt x="0" y="4372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83592" y="1007422"/>
            <a:ext cx="974335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499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require() dừng giao dịch khi điều kiện nghiệp vụ không được đáp ứng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08527" y="1709282"/>
            <a:ext cx="17669210" cy="1510529"/>
          </a:xfrm>
          <a:custGeom>
            <a:avLst/>
            <a:gdLst/>
            <a:ahLst/>
            <a:cxnLst/>
            <a:rect r="r" b="b" t="t" l="l"/>
            <a:pathLst>
              <a:path h="1510529" w="17669210">
                <a:moveTo>
                  <a:pt x="0" y="0"/>
                </a:moveTo>
                <a:lnTo>
                  <a:pt x="17669210" y="0"/>
                </a:lnTo>
                <a:lnTo>
                  <a:pt x="17669210" y="1510529"/>
                </a:lnTo>
                <a:lnTo>
                  <a:pt x="0" y="1510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14773" y="2239351"/>
            <a:ext cx="1446113" cy="33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1"/>
              </a:lnSpc>
            </a:pPr>
            <a:r>
              <a:rPr lang="en-US" sz="2521" b="true">
                <a:solidFill>
                  <a:srgbClr val="0050F5"/>
                </a:solidFill>
                <a:latin typeface="Asap Bold"/>
                <a:ea typeface="Asap Bold"/>
                <a:cs typeface="Asap Bold"/>
                <a:sym typeface="Asap Bold"/>
              </a:rPr>
              <a:t>Sinh viên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19544" y="2269975"/>
            <a:ext cx="4649526" cy="277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7"/>
              </a:lnSpc>
            </a:pPr>
            <a:r>
              <a:rPr lang="en-US" sz="2066">
                <a:solidFill>
                  <a:srgbClr val="000010"/>
                </a:solidFill>
                <a:latin typeface="Asap"/>
                <a:ea typeface="Asap"/>
                <a:cs typeface="Asap"/>
                <a:sym typeface="Asap"/>
              </a:rPr>
              <a:t>ID khác 0 • chưa tồn tại • tuổi 16–100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08527" y="3209873"/>
            <a:ext cx="17669210" cy="1500591"/>
          </a:xfrm>
          <a:custGeom>
            <a:avLst/>
            <a:gdLst/>
            <a:ahLst/>
            <a:cxnLst/>
            <a:rect r="r" b="b" t="t" l="l"/>
            <a:pathLst>
              <a:path h="1500591" w="17669210">
                <a:moveTo>
                  <a:pt x="0" y="0"/>
                </a:moveTo>
                <a:lnTo>
                  <a:pt x="17669210" y="0"/>
                </a:lnTo>
                <a:lnTo>
                  <a:pt x="17669210" y="1500591"/>
                </a:lnTo>
                <a:lnTo>
                  <a:pt x="0" y="15005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14773" y="3914269"/>
            <a:ext cx="787125" cy="33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1"/>
              </a:lnSpc>
            </a:pPr>
            <a:r>
              <a:rPr lang="en-US" sz="2521" b="true">
                <a:solidFill>
                  <a:srgbClr val="0050F5"/>
                </a:solidFill>
                <a:latin typeface="Asap Bold"/>
                <a:ea typeface="Asap Bold"/>
                <a:cs typeface="Asap Bold"/>
                <a:sym typeface="Asap Bold"/>
              </a:rPr>
              <a:t>Điểm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19544" y="3944893"/>
            <a:ext cx="4905800" cy="277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7"/>
              </a:lnSpc>
            </a:pPr>
            <a:r>
              <a:rPr lang="en-US" sz="2066">
                <a:solidFill>
                  <a:srgbClr val="000010"/>
                </a:solidFill>
                <a:latin typeface="Asap"/>
                <a:ea typeface="Asap"/>
                <a:cs typeface="Asap"/>
                <a:sym typeface="Asap"/>
              </a:rPr>
              <a:t>0–1000 • môn không rồng • tin chỉ 1–10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08527" y="4919156"/>
            <a:ext cx="17669210" cy="1510529"/>
          </a:xfrm>
          <a:custGeom>
            <a:avLst/>
            <a:gdLst/>
            <a:ahLst/>
            <a:cxnLst/>
            <a:rect r="r" b="b" t="t" l="l"/>
            <a:pathLst>
              <a:path h="1510529" w="17669210">
                <a:moveTo>
                  <a:pt x="0" y="0"/>
                </a:moveTo>
                <a:lnTo>
                  <a:pt x="17669210" y="0"/>
                </a:lnTo>
                <a:lnTo>
                  <a:pt x="17669210" y="1510529"/>
                </a:lnTo>
                <a:lnTo>
                  <a:pt x="0" y="15105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14773" y="5599462"/>
            <a:ext cx="1061703" cy="33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1"/>
              </a:lnSpc>
            </a:pPr>
            <a:r>
              <a:rPr lang="en-US" sz="2521" b="true">
                <a:solidFill>
                  <a:srgbClr val="FFD96B"/>
                </a:solidFill>
                <a:latin typeface="Asap Bold"/>
                <a:ea typeface="Asap Bold"/>
                <a:cs typeface="Asap Bold"/>
                <a:sym typeface="Asap Bold"/>
              </a:rPr>
              <a:t>Học kỳ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19544" y="5630087"/>
            <a:ext cx="5235294" cy="277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7"/>
              </a:lnSpc>
            </a:pPr>
            <a:r>
              <a:rPr lang="en-US" sz="2066">
                <a:solidFill>
                  <a:srgbClr val="000010"/>
                </a:solidFill>
                <a:latin typeface="Asap"/>
                <a:ea typeface="Asap"/>
                <a:cs typeface="Asap"/>
                <a:sym typeface="Asap"/>
              </a:rPr>
              <a:t>chỉ 1 hoặc 2 • chưa đánh giá • đúng thứ tự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08527" y="6628438"/>
            <a:ext cx="17669210" cy="1510529"/>
          </a:xfrm>
          <a:custGeom>
            <a:avLst/>
            <a:gdLst/>
            <a:ahLst/>
            <a:cxnLst/>
            <a:rect r="r" b="b" t="t" l="l"/>
            <a:pathLst>
              <a:path h="1510529" w="17669210">
                <a:moveTo>
                  <a:pt x="0" y="0"/>
                </a:moveTo>
                <a:lnTo>
                  <a:pt x="17669210" y="0"/>
                </a:lnTo>
                <a:lnTo>
                  <a:pt x="17669210" y="1510529"/>
                </a:lnTo>
                <a:lnTo>
                  <a:pt x="0" y="15105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14773" y="7274380"/>
            <a:ext cx="1537639" cy="33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1"/>
              </a:lnSpc>
            </a:pPr>
            <a:r>
              <a:rPr lang="en-US" sz="2521" b="true">
                <a:solidFill>
                  <a:srgbClr val="FF4C4C"/>
                </a:solidFill>
                <a:latin typeface="Asap Bold"/>
                <a:ea typeface="Asap Bold"/>
                <a:cs typeface="Asap Bold"/>
                <a:sym typeface="Asap Bold"/>
              </a:rPr>
              <a:t>Trạng thái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3752" y="9018932"/>
            <a:ext cx="9335663" cy="312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2293" b="true">
                <a:solidFill>
                  <a:srgbClr val="78B9FF"/>
                </a:solidFill>
                <a:latin typeface="Asap Bold"/>
                <a:ea typeface="Asap Bold"/>
                <a:cs typeface="Asap Bold"/>
                <a:sym typeface="Asap Bold"/>
              </a:rPr>
              <a:t>Khi require thất bại, trạng thái không thay đổi và giao dịch bị hoàn tác.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319544" y="7305005"/>
            <a:ext cx="6589880" cy="277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7"/>
              </a:lnSpc>
            </a:pPr>
            <a:r>
              <a:rPr lang="en-US" sz="2066">
                <a:solidFill>
                  <a:srgbClr val="000010"/>
                </a:solidFill>
                <a:latin typeface="Asap"/>
                <a:ea typeface="Asap"/>
                <a:cs typeface="Asap"/>
                <a:sym typeface="Asap"/>
              </a:rPr>
              <a:t>không nhập điểm hoặc đánh giá sinh viên đã thôi học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2395" y="9991188"/>
            <a:ext cx="2489510" cy="167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7"/>
              </a:lnSpc>
            </a:pPr>
            <a:r>
              <a:rPr lang="en-US" sz="1212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BLOCKCHAIN • SOLIDITY • REMIX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902019" y="9988429"/>
            <a:ext cx="274578" cy="192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61"/>
              </a:lnSpc>
            </a:pPr>
            <a:r>
              <a:rPr lang="en-US" b="true" sz="1432">
                <a:solidFill>
                  <a:srgbClr val="0050F5"/>
                </a:solidFill>
                <a:latin typeface="Asap Bold"/>
                <a:ea typeface="Asap Bold"/>
                <a:cs typeface="Asap Bold"/>
                <a:sym typeface="Asap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5843" y="260514"/>
            <a:ext cx="8685309" cy="553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8"/>
              </a:lnSpc>
            </a:pPr>
            <a:r>
              <a:rPr lang="en-US" sz="4108" spc="-82" b="true">
                <a:solidFill>
                  <a:srgbClr val="003C64"/>
                </a:solidFill>
                <a:latin typeface="Asap Bold"/>
                <a:ea typeface="Asap Bold"/>
                <a:cs typeface="Asap Bold"/>
                <a:sym typeface="Asap Bold"/>
              </a:rPr>
              <a:t>Điểm cần hoàn thiện trước khi demo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10029" y="865121"/>
            <a:ext cx="1320242" cy="436772"/>
          </a:xfrm>
          <a:custGeom>
            <a:avLst/>
            <a:gdLst/>
            <a:ahLst/>
            <a:cxnLst/>
            <a:rect r="r" b="b" t="t" l="l"/>
            <a:pathLst>
              <a:path h="436772" w="1320242">
                <a:moveTo>
                  <a:pt x="0" y="0"/>
                </a:moveTo>
                <a:lnTo>
                  <a:pt x="1320242" y="0"/>
                </a:lnTo>
                <a:lnTo>
                  <a:pt x="1320242" y="436771"/>
                </a:lnTo>
                <a:lnTo>
                  <a:pt x="0" y="4367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83777" y="966327"/>
            <a:ext cx="1203143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4"/>
              </a:lnSpc>
            </a:pPr>
            <a:r>
              <a:rPr lang="en-US" sz="2536">
                <a:solidFill>
                  <a:srgbClr val="003C64"/>
                </a:solidFill>
                <a:latin typeface="Asap"/>
                <a:ea typeface="Asap"/>
                <a:cs typeface="Asap"/>
                <a:sym typeface="Asap"/>
              </a:rPr>
              <a:t>Hai thiếu sôt đầu tiên đang chân việc FacultyManagement gọi StudentManagement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10029" y="1718811"/>
            <a:ext cx="8933971" cy="3216230"/>
          </a:xfrm>
          <a:custGeom>
            <a:avLst/>
            <a:gdLst/>
            <a:ahLst/>
            <a:cxnLst/>
            <a:rect r="r" b="b" t="t" l="l"/>
            <a:pathLst>
              <a:path h="3216230" w="8933971">
                <a:moveTo>
                  <a:pt x="0" y="0"/>
                </a:moveTo>
                <a:lnTo>
                  <a:pt x="8933971" y="0"/>
                </a:lnTo>
                <a:lnTo>
                  <a:pt x="8933971" y="3216230"/>
                </a:lnTo>
                <a:lnTo>
                  <a:pt x="0" y="32162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6801" y="1927270"/>
            <a:ext cx="1975400" cy="655158"/>
          </a:xfrm>
          <a:custGeom>
            <a:avLst/>
            <a:gdLst/>
            <a:ahLst/>
            <a:cxnLst/>
            <a:rect r="r" b="b" t="t" l="l"/>
            <a:pathLst>
              <a:path h="655158" w="1975400">
                <a:moveTo>
                  <a:pt x="0" y="0"/>
                </a:moveTo>
                <a:lnTo>
                  <a:pt x="1975400" y="0"/>
                </a:lnTo>
                <a:lnTo>
                  <a:pt x="1975400" y="655158"/>
                </a:lnTo>
                <a:lnTo>
                  <a:pt x="0" y="6551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51249" y="2966643"/>
            <a:ext cx="3455839" cy="368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1"/>
              </a:lnSpc>
            </a:pPr>
            <a:r>
              <a:rPr lang="en-US" sz="2711" spc="54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Thiếu student Exists()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1249" y="3583549"/>
            <a:ext cx="7734496" cy="61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2063">
                <a:solidFill>
                  <a:srgbClr val="003C64"/>
                </a:solidFill>
                <a:latin typeface="Asap"/>
                <a:ea typeface="Asap"/>
                <a:cs typeface="Asap"/>
                <a:sym typeface="Asap"/>
              </a:rPr>
              <a:t>Interface có khai báo nhưng StudentManagement chưa triển khai. submitScore sẽ không gọi được đúng selector.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352459" y="1718811"/>
            <a:ext cx="8725512" cy="3216230"/>
          </a:xfrm>
          <a:custGeom>
            <a:avLst/>
            <a:gdLst/>
            <a:ahLst/>
            <a:cxnLst/>
            <a:rect r="r" b="b" t="t" l="l"/>
            <a:pathLst>
              <a:path h="3216230" w="8725512">
                <a:moveTo>
                  <a:pt x="0" y="0"/>
                </a:moveTo>
                <a:lnTo>
                  <a:pt x="8725512" y="0"/>
                </a:lnTo>
                <a:lnTo>
                  <a:pt x="8725512" y="3216230"/>
                </a:lnTo>
                <a:lnTo>
                  <a:pt x="0" y="32162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570845" y="1927270"/>
            <a:ext cx="2193786" cy="655158"/>
          </a:xfrm>
          <a:custGeom>
            <a:avLst/>
            <a:gdLst/>
            <a:ahLst/>
            <a:cxnLst/>
            <a:rect r="r" b="b" t="t" l="l"/>
            <a:pathLst>
              <a:path h="655158" w="2193786">
                <a:moveTo>
                  <a:pt x="0" y="0"/>
                </a:moveTo>
                <a:lnTo>
                  <a:pt x="2193786" y="0"/>
                </a:lnTo>
                <a:lnTo>
                  <a:pt x="2193786" y="655158"/>
                </a:lnTo>
                <a:lnTo>
                  <a:pt x="0" y="6551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076528" y="2250171"/>
            <a:ext cx="1188516" cy="232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b="true" sz="1687" spc="33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BLOCKER 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47400" y="2966643"/>
            <a:ext cx="3675257" cy="368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1"/>
              </a:lnSpc>
            </a:pPr>
            <a:r>
              <a:rPr lang="en-US" sz="2711" spc="54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Thiếu hàm tạo offering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47400" y="3583549"/>
            <a:ext cx="6893392" cy="61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2063">
                <a:solidFill>
                  <a:srgbClr val="003C64"/>
                </a:solidFill>
                <a:latin typeface="Asap"/>
                <a:ea typeface="Asap"/>
                <a:cs typeface="Asap"/>
                <a:sym typeface="Asap"/>
              </a:rPr>
              <a:t>Mapping offerings tồn tại nhưng không có hàm ghi dữ liệu. submitScore luôn gặp “Offering not found”.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10029" y="5351959"/>
            <a:ext cx="8933971" cy="3216230"/>
          </a:xfrm>
          <a:custGeom>
            <a:avLst/>
            <a:gdLst/>
            <a:ahLst/>
            <a:cxnLst/>
            <a:rect r="r" b="b" t="t" l="l"/>
            <a:pathLst>
              <a:path h="3216230" w="8933971">
                <a:moveTo>
                  <a:pt x="0" y="0"/>
                </a:moveTo>
                <a:lnTo>
                  <a:pt x="8933971" y="0"/>
                </a:lnTo>
                <a:lnTo>
                  <a:pt x="8933971" y="3216230"/>
                </a:lnTo>
                <a:lnTo>
                  <a:pt x="0" y="32162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46801" y="5570345"/>
            <a:ext cx="1975400" cy="645231"/>
          </a:xfrm>
          <a:custGeom>
            <a:avLst/>
            <a:gdLst/>
            <a:ahLst/>
            <a:cxnLst/>
            <a:rect r="r" b="b" t="t" l="l"/>
            <a:pathLst>
              <a:path h="645231" w="1975400">
                <a:moveTo>
                  <a:pt x="0" y="0"/>
                </a:moveTo>
                <a:lnTo>
                  <a:pt x="1975400" y="0"/>
                </a:lnTo>
                <a:lnTo>
                  <a:pt x="1975400" y="645232"/>
                </a:lnTo>
                <a:lnTo>
                  <a:pt x="0" y="6452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35231" y="5883677"/>
            <a:ext cx="1023952" cy="232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b="true" sz="1687" spc="33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SECURITY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1249" y="6600148"/>
            <a:ext cx="3400984" cy="368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1"/>
              </a:lnSpc>
            </a:pPr>
            <a:r>
              <a:rPr lang="en-US" sz="2711" spc="54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Chưa có phân quyền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1249" y="7217055"/>
            <a:ext cx="8027054" cy="61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2063">
                <a:solidFill>
                  <a:srgbClr val="003C64"/>
                </a:solidFill>
                <a:latin typeface="Asap"/>
                <a:ea typeface="Asap"/>
                <a:cs typeface="Asap"/>
                <a:sym typeface="Asap"/>
              </a:rPr>
              <a:t>Bất kỳ địa chỉ nào cũng có thể thêm sinh viên, nhập điểm hoặc đánh giá.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9352459" y="5351959"/>
            <a:ext cx="8725512" cy="3216230"/>
          </a:xfrm>
          <a:custGeom>
            <a:avLst/>
            <a:gdLst/>
            <a:ahLst/>
            <a:cxnLst/>
            <a:rect r="r" b="b" t="t" l="l"/>
            <a:pathLst>
              <a:path h="3216230" w="8725512">
                <a:moveTo>
                  <a:pt x="0" y="0"/>
                </a:moveTo>
                <a:lnTo>
                  <a:pt x="8725512" y="0"/>
                </a:lnTo>
                <a:lnTo>
                  <a:pt x="8725512" y="3216230"/>
                </a:lnTo>
                <a:lnTo>
                  <a:pt x="0" y="32162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570845" y="5570345"/>
            <a:ext cx="2193786" cy="645231"/>
          </a:xfrm>
          <a:custGeom>
            <a:avLst/>
            <a:gdLst/>
            <a:ahLst/>
            <a:cxnLst/>
            <a:rect r="r" b="b" t="t" l="l"/>
            <a:pathLst>
              <a:path h="645231" w="2193786">
                <a:moveTo>
                  <a:pt x="0" y="0"/>
                </a:moveTo>
                <a:lnTo>
                  <a:pt x="2193786" y="0"/>
                </a:lnTo>
                <a:lnTo>
                  <a:pt x="2193786" y="645232"/>
                </a:lnTo>
                <a:lnTo>
                  <a:pt x="0" y="6452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747400" y="6600148"/>
            <a:ext cx="2687875" cy="368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1"/>
              </a:lnSpc>
            </a:pPr>
            <a:r>
              <a:rPr lang="en-US" sz="2711" spc="54" b="true">
                <a:solidFill>
                  <a:srgbClr val="000000"/>
                </a:solidFill>
                <a:latin typeface="Asap Bold"/>
                <a:ea typeface="Asap Bold"/>
                <a:cs typeface="Asap Bold"/>
                <a:sym typeface="Asap Bold"/>
              </a:rPr>
              <a:t>Chưa phát event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47400" y="7217055"/>
            <a:ext cx="7478508" cy="61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2063">
                <a:solidFill>
                  <a:srgbClr val="003C64"/>
                </a:solidFill>
                <a:latin typeface="Asap"/>
                <a:ea typeface="Asap"/>
                <a:cs typeface="Asap"/>
                <a:sym typeface="Asap"/>
              </a:rPr>
              <a:t>Khó theo dõi các thay đổi quan trọng bằng log giao dịch và giao diện ngoài chuỗi.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2092" y="2250171"/>
            <a:ext cx="1188516" cy="232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b="true" sz="1687" spc="33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BLOCKER 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32516" y="5883677"/>
            <a:ext cx="658255" cy="232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b="true" sz="1687" spc="33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AUDIT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30697" y="9979712"/>
            <a:ext cx="2450171" cy="170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1"/>
              </a:lnSpc>
            </a:pPr>
            <a:r>
              <a:rPr lang="en-US" sz="1211" spc="-36">
                <a:solidFill>
                  <a:srgbClr val="003C64"/>
                </a:solidFill>
                <a:latin typeface="Asap"/>
                <a:ea typeface="Asap"/>
                <a:cs typeface="Asap"/>
                <a:sym typeface="Asap"/>
              </a:rPr>
              <a:t>BLOCKCHAIN • SOLIDITY • REMIX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884163" y="9938012"/>
            <a:ext cx="329127" cy="232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7"/>
              </a:lnSpc>
            </a:pPr>
            <a:r>
              <a:rPr lang="en-US" b="true" sz="1687" spc="33">
                <a:solidFill>
                  <a:srgbClr val="5941FF"/>
                </a:solidFill>
                <a:latin typeface="Asap Bold"/>
                <a:ea typeface="Asap Bold"/>
                <a:cs typeface="Asap Bold"/>
                <a:sym typeface="Asap 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2760" y="265534"/>
            <a:ext cx="6534964" cy="48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3"/>
              </a:lnSpc>
            </a:pPr>
            <a:r>
              <a:rPr lang="en-US" sz="3653" spc="-73" b="true">
                <a:solidFill>
                  <a:srgbClr val="5C607C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Hướng hoàn thiện hệ thống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10263" y="866071"/>
            <a:ext cx="1321713" cy="437258"/>
          </a:xfrm>
          <a:custGeom>
            <a:avLst/>
            <a:gdLst/>
            <a:ahLst/>
            <a:cxnLst/>
            <a:rect r="r" b="b" t="t" l="l"/>
            <a:pathLst>
              <a:path h="437258" w="1321713">
                <a:moveTo>
                  <a:pt x="0" y="0"/>
                </a:moveTo>
                <a:lnTo>
                  <a:pt x="1321712" y="0"/>
                </a:lnTo>
                <a:lnTo>
                  <a:pt x="1321712" y="437259"/>
                </a:lnTo>
                <a:lnTo>
                  <a:pt x="0" y="4372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85652" y="1057674"/>
            <a:ext cx="11733648" cy="332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9"/>
              </a:lnSpc>
            </a:pPr>
            <a:r>
              <a:rPr lang="en-US" sz="2589" spc="-51" b="true">
                <a:solidFill>
                  <a:srgbClr val="5C607C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Ưu tiên khả nâng chạy đúng trước, sau đó táng bảo mật và khả nâng mở rộng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8892" y="1720712"/>
            <a:ext cx="1321713" cy="1083208"/>
          </a:xfrm>
          <a:custGeom>
            <a:avLst/>
            <a:gdLst/>
            <a:ahLst/>
            <a:cxnLst/>
            <a:rect r="r" b="b" t="t" l="l"/>
            <a:pathLst>
              <a:path h="1083208" w="1321713">
                <a:moveTo>
                  <a:pt x="0" y="0"/>
                </a:moveTo>
                <a:lnTo>
                  <a:pt x="1321713" y="0"/>
                </a:lnTo>
                <a:lnTo>
                  <a:pt x="1321713" y="1083208"/>
                </a:lnTo>
                <a:lnTo>
                  <a:pt x="0" y="1083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60230" y="2180117"/>
            <a:ext cx="3111888" cy="323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2501" spc="-50" b="true">
                <a:solidFill>
                  <a:srgbClr val="5C607C"/>
                </a:solidFill>
                <a:latin typeface="Muli Heavy"/>
                <a:ea typeface="Muli Heavy"/>
                <a:cs typeface="Muli Heavy"/>
                <a:sym typeface="Muli Heavy"/>
              </a:rPr>
              <a:t>Hoàn tắt luồng chạy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28892" y="3429995"/>
            <a:ext cx="1321713" cy="1083208"/>
          </a:xfrm>
          <a:custGeom>
            <a:avLst/>
            <a:gdLst/>
            <a:ahLst/>
            <a:cxnLst/>
            <a:rect r="r" b="b" t="t" l="l"/>
            <a:pathLst>
              <a:path h="1083208" w="1321713">
                <a:moveTo>
                  <a:pt x="0" y="0"/>
                </a:moveTo>
                <a:lnTo>
                  <a:pt x="1321713" y="0"/>
                </a:lnTo>
                <a:lnTo>
                  <a:pt x="1321713" y="1083208"/>
                </a:lnTo>
                <a:lnTo>
                  <a:pt x="0" y="10832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8892" y="4930586"/>
            <a:ext cx="1321713" cy="1083208"/>
          </a:xfrm>
          <a:custGeom>
            <a:avLst/>
            <a:gdLst/>
            <a:ahLst/>
            <a:cxnLst/>
            <a:rect r="r" b="b" t="t" l="l"/>
            <a:pathLst>
              <a:path h="1083208" w="1321713">
                <a:moveTo>
                  <a:pt x="0" y="0"/>
                </a:moveTo>
                <a:lnTo>
                  <a:pt x="1321713" y="0"/>
                </a:lnTo>
                <a:lnTo>
                  <a:pt x="1321713" y="1083208"/>
                </a:lnTo>
                <a:lnTo>
                  <a:pt x="0" y="10832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60230" y="5380318"/>
            <a:ext cx="2709173" cy="335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565" spc="-51" b="true">
                <a:solidFill>
                  <a:srgbClr val="5C607C"/>
                </a:solidFill>
                <a:latin typeface="Muli Heavy"/>
                <a:ea typeface="Muli Heavy"/>
                <a:cs typeface="Muli Heavy"/>
                <a:sym typeface="Muli Heavy"/>
              </a:rPr>
              <a:t>Theo dõi thay đổi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28892" y="6639868"/>
            <a:ext cx="1321713" cy="1083208"/>
          </a:xfrm>
          <a:custGeom>
            <a:avLst/>
            <a:gdLst/>
            <a:ahLst/>
            <a:cxnLst/>
            <a:rect r="r" b="b" t="t" l="l"/>
            <a:pathLst>
              <a:path h="1083208" w="1321713">
                <a:moveTo>
                  <a:pt x="0" y="0"/>
                </a:moveTo>
                <a:lnTo>
                  <a:pt x="1321713" y="0"/>
                </a:lnTo>
                <a:lnTo>
                  <a:pt x="1321713" y="1083208"/>
                </a:lnTo>
                <a:lnTo>
                  <a:pt x="0" y="10832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960230" y="6993583"/>
            <a:ext cx="2178321" cy="335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</a:pPr>
            <a:r>
              <a:rPr lang="en-US" sz="2565" spc="-51" b="true">
                <a:solidFill>
                  <a:srgbClr val="5C607C"/>
                </a:solidFill>
                <a:latin typeface="Muli Heavy"/>
                <a:ea typeface="Muli Heavy"/>
                <a:cs typeface="Muli Heavy"/>
                <a:sym typeface="Muli Heavy"/>
              </a:rPr>
              <a:t>Tối ưu dữ liệu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530633" y="1720712"/>
            <a:ext cx="11130211" cy="1291900"/>
          </a:xfrm>
          <a:custGeom>
            <a:avLst/>
            <a:gdLst/>
            <a:ahLst/>
            <a:cxnLst/>
            <a:rect r="r" b="b" t="t" l="l"/>
            <a:pathLst>
              <a:path h="1291900" w="11130211">
                <a:moveTo>
                  <a:pt x="0" y="0"/>
                </a:moveTo>
                <a:lnTo>
                  <a:pt x="11130211" y="0"/>
                </a:lnTo>
                <a:lnTo>
                  <a:pt x="11130211" y="1291900"/>
                </a:lnTo>
                <a:lnTo>
                  <a:pt x="0" y="12919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792809" y="2173922"/>
            <a:ext cx="5930892" cy="285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6"/>
              </a:lnSpc>
            </a:pPr>
            <a:r>
              <a:rPr lang="en-US" sz="2186" spc="-43">
                <a:solidFill>
                  <a:srgbClr val="5C607C"/>
                </a:solidFill>
                <a:latin typeface="Muli"/>
                <a:ea typeface="Muli"/>
                <a:cs typeface="Muli"/>
                <a:sym typeface="Muli"/>
              </a:rPr>
              <a:t>Thêm student Exists() và createCourseOffering()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530633" y="3221303"/>
            <a:ext cx="11130211" cy="1291900"/>
          </a:xfrm>
          <a:custGeom>
            <a:avLst/>
            <a:gdLst/>
            <a:ahLst/>
            <a:cxnLst/>
            <a:rect r="r" b="b" t="t" l="l"/>
            <a:pathLst>
              <a:path h="1291900" w="11130211">
                <a:moveTo>
                  <a:pt x="0" y="0"/>
                </a:moveTo>
                <a:lnTo>
                  <a:pt x="11130211" y="0"/>
                </a:lnTo>
                <a:lnTo>
                  <a:pt x="11130211" y="1291900"/>
                </a:lnTo>
                <a:lnTo>
                  <a:pt x="0" y="12919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792809" y="3797462"/>
            <a:ext cx="6223776" cy="285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6"/>
              </a:lnSpc>
            </a:pPr>
            <a:r>
              <a:rPr lang="en-US" sz="2186" spc="-43">
                <a:solidFill>
                  <a:srgbClr val="5C607C"/>
                </a:solidFill>
                <a:latin typeface="Muli"/>
                <a:ea typeface="Muli"/>
                <a:cs typeface="Muli"/>
                <a:sym typeface="Muli"/>
              </a:rPr>
              <a:t>Chỉ tài khoản hoặc contract! Khoa được nhập điểm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530633" y="4711957"/>
            <a:ext cx="11130211" cy="1510529"/>
          </a:xfrm>
          <a:custGeom>
            <a:avLst/>
            <a:gdLst/>
            <a:ahLst/>
            <a:cxnLst/>
            <a:rect r="r" b="b" t="t" l="l"/>
            <a:pathLst>
              <a:path h="1510529" w="11130211">
                <a:moveTo>
                  <a:pt x="0" y="0"/>
                </a:moveTo>
                <a:lnTo>
                  <a:pt x="11130211" y="0"/>
                </a:lnTo>
                <a:lnTo>
                  <a:pt x="11130211" y="1510528"/>
                </a:lnTo>
                <a:lnTo>
                  <a:pt x="0" y="15105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792809" y="5400451"/>
            <a:ext cx="6626491" cy="285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6"/>
              </a:lnSpc>
            </a:pPr>
            <a:r>
              <a:rPr lang="en-US" sz="2186" spc="-43">
                <a:solidFill>
                  <a:srgbClr val="5C607C"/>
                </a:solidFill>
                <a:latin typeface="Muli"/>
                <a:ea typeface="Muli"/>
                <a:cs typeface="Muli"/>
                <a:sym typeface="Muli"/>
              </a:rPr>
              <a:t>Phát event khi thêm sinh viên, nhập điểm và đánh giá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530633" y="6431177"/>
            <a:ext cx="11130211" cy="1291900"/>
          </a:xfrm>
          <a:custGeom>
            <a:avLst/>
            <a:gdLst/>
            <a:ahLst/>
            <a:cxnLst/>
            <a:rect r="r" b="b" t="t" l="l"/>
            <a:pathLst>
              <a:path h="1291900" w="11130211">
                <a:moveTo>
                  <a:pt x="0" y="0"/>
                </a:moveTo>
                <a:lnTo>
                  <a:pt x="11130211" y="0"/>
                </a:lnTo>
                <a:lnTo>
                  <a:pt x="11130211" y="1291899"/>
                </a:lnTo>
                <a:lnTo>
                  <a:pt x="0" y="1291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792809" y="7008064"/>
            <a:ext cx="6901069" cy="297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2239" spc="-44">
                <a:solidFill>
                  <a:srgbClr val="5C607C"/>
                </a:solidFill>
                <a:latin typeface="Muli"/>
                <a:ea typeface="Muli"/>
                <a:cs typeface="Muli"/>
                <a:sym typeface="Muli"/>
              </a:rPr>
              <a:t>Dùng courseld thay chuỗi, cân nhắc dữ liệu ngoài chuỗi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303409" y="8140459"/>
            <a:ext cx="15920177" cy="1291900"/>
          </a:xfrm>
          <a:custGeom>
            <a:avLst/>
            <a:gdLst/>
            <a:ahLst/>
            <a:cxnLst/>
            <a:rect r="r" b="b" t="t" l="l"/>
            <a:pathLst>
              <a:path h="1291900" w="15920177">
                <a:moveTo>
                  <a:pt x="0" y="0"/>
                </a:moveTo>
                <a:lnTo>
                  <a:pt x="15920177" y="0"/>
                </a:lnTo>
                <a:lnTo>
                  <a:pt x="15920177" y="1291900"/>
                </a:lnTo>
                <a:lnTo>
                  <a:pt x="0" y="12919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600913" y="8734018"/>
            <a:ext cx="13252981" cy="29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6"/>
              </a:lnSpc>
            </a:pPr>
            <a:r>
              <a:rPr lang="en-US" b="true" sz="2266" spc="-45">
                <a:solidFill>
                  <a:srgbClr val="FFFFF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Giá trị cốt lõi: mã hóa quy tắc học vụ thành logic có thề kiểm chứng và thực thi nhất quán.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60230" y="3777733"/>
            <a:ext cx="1830522" cy="334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3"/>
              </a:lnSpc>
            </a:pPr>
            <a:r>
              <a:rPr lang="en-US" sz="2533" spc="-50" b="true">
                <a:solidFill>
                  <a:srgbClr val="5C607C"/>
                </a:solidFill>
                <a:latin typeface="Muli Heavy"/>
                <a:ea typeface="Muli Heavy"/>
                <a:cs typeface="Muli Heavy"/>
                <a:sym typeface="Muli Heavy"/>
              </a:rPr>
              <a:t>Phân quyền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43612" y="2198755"/>
            <a:ext cx="366104" cy="29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6"/>
              </a:lnSpc>
            </a:pPr>
            <a:r>
              <a:rPr lang="en-US" b="true" sz="2266" spc="-45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P0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3612" y="3838389"/>
            <a:ext cx="274578" cy="224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b="true" sz="1728" spc="-34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P1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43612" y="5410727"/>
            <a:ext cx="347799" cy="285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6"/>
              </a:lnSpc>
            </a:pPr>
            <a:r>
              <a:rPr lang="en-US" b="true" sz="2186" spc="-43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P2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43612" y="7023991"/>
            <a:ext cx="347799" cy="285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6"/>
              </a:lnSpc>
            </a:pPr>
            <a:r>
              <a:rPr lang="en-US" b="true" sz="2186" spc="-43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P3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12760" y="10020128"/>
            <a:ext cx="2452900" cy="151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2"/>
              </a:lnSpc>
            </a:pPr>
            <a:r>
              <a:rPr lang="en-US" b="true" sz="1212" spc="-36">
                <a:solidFill>
                  <a:srgbClr val="5C607C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BLOCKCHAIN • SOLIDITY • REMIX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922384" y="9986671"/>
            <a:ext cx="274578" cy="187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59"/>
              </a:lnSpc>
            </a:pPr>
            <a:r>
              <a:rPr lang="en-US" b="true" sz="1459" spc="72">
                <a:solidFill>
                  <a:srgbClr val="00C4CC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4279392"/>
            <a:ext cx="15243048" cy="6007608"/>
          </a:xfrm>
          <a:custGeom>
            <a:avLst/>
            <a:gdLst/>
            <a:ahLst/>
            <a:cxnLst/>
            <a:rect r="r" b="b" t="t" l="l"/>
            <a:pathLst>
              <a:path h="6007608" w="15243048">
                <a:moveTo>
                  <a:pt x="0" y="0"/>
                </a:moveTo>
                <a:lnTo>
                  <a:pt x="15243048" y="0"/>
                </a:lnTo>
                <a:lnTo>
                  <a:pt x="15243048" y="6007608"/>
                </a:lnTo>
                <a:lnTo>
                  <a:pt x="0" y="6007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552944" y="2954463"/>
            <a:ext cx="3182112" cy="1024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36"/>
              </a:lnSpc>
            </a:pPr>
            <a:r>
              <a:rPr lang="en-US" b="true" sz="5954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CẢM ƠN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63840" y="4607795"/>
            <a:ext cx="2542032" cy="58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6"/>
              </a:lnSpc>
            </a:pPr>
            <a:r>
              <a:rPr lang="en-US" b="true" sz="3433">
                <a:solidFill>
                  <a:srgbClr val="38B6FF"/>
                </a:solidFill>
                <a:latin typeface="Muli Heavy"/>
                <a:ea typeface="Muli Heavy"/>
                <a:cs typeface="Muli Heavy"/>
                <a:sym typeface="Muli Heavy"/>
              </a:rPr>
              <a:t>HỎI &amp; ĐÁP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44768" y="6284076"/>
            <a:ext cx="5998464" cy="33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Smart contract • GPA • Trạng thái học tập • Remix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DAHWY406dJY</dc:identifier>
  <dcterms:modified xsi:type="dcterms:W3CDTF">2011-08-01T06:04:30Z</dcterms:modified>
  <cp:revision>1</cp:revision>
  <dc:title>HỆ THỐNG QUẢN LÝ SINH VIÊN BẰNG SMART CONTRACT</dc:title>
</cp:coreProperties>
</file>